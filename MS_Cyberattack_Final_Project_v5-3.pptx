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40s
VISUAL: Identification card (required fields)
SOURCES: M&amp;S CEO via Reuters 21 May 2025 (attackers used social engineering, not a system weakness)
SCRIPT: Hello, my name is Zunera Amber R, my edX username is zunera_7 and my GitHub username is ambercodes20. Today is the 25th of October, 2026, and this is my final project for CS50's Introduction to Cybersecurity. My topic is the Marks and Spencer cyberattack of April 2025. There is no CVE for this incident, because M&amp;S said the attackers did not exploit a system weakness. I chose it because it shows that strong technology can still be bypassed through people and process, which connects directly to the course themes of social engineering, authentication, access control, and incident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35s
VISUAL: Three summary cards
SOURCES: M&amp;S RNS 13 May 2025; Reuters 21 May 2025
SCRIPT: In April 2025, attackers breached the systems of M&amp;S, a retailer with nearly fourteen billion pounds in annual sales. Online ordering was stopped, some in-store services were paused, and the company later confirmed that some customer data was taken. What makes this case important is how it began. According to M&amp;S's chief executive, the attackers could not break through the digital defences, so they used social engineering and came in through a third party. The main lesson is that identity verification and third-party access are security controls, and they must be designed as carefully as firewalls.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50s
VISUAL: Horizontal timeline with category chips
SOURCES: M&amp;S 23 Apr and 13 May announcements; Reuters 21 May 2025
SCRIPT: Let me separate what is known by stage. M&amp;S says it spotted suspicious activity over Easter weekend, April nineteenth and twentieth. On April twenty-second it publicly reported the incident. On the twenty-third it paused contactless payments and Click and Collect, and moved some processes offline to protect the business. On May thirteenth it confirmed that some personal customer data had been taken. And on May twenty-first the chief executive explained the entry route, and said online sales were unlikely to be fully restored until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45s
VISUAL: Two-column confirmed vs reported comparison
SOURCES: Reuters 21 May 2025; ManageEngine summary of BleepingComputer 5 May 2025
SCRIPT: I want to be careful here about confirmed facts versus reports. M&amp;S's chief executive confirmed that the attackers used social engineering and entered through a third party, rather than through a system weakness. Other details come from media reporting. Reuters cited one unnamed source who said an IT contractor was a means of access, and that contractor declined to comment. Security outlets reported that attackers impersonated employees to get password resets from a service desk, but M&amp;S has not publicly confirmed those details, and it has not confirmed who the attackers were.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55s
VISUAL: Original four-stage attack-chain diagram with confidence labels
SOURCES: Reuters 21 May 2025; M&amp;S 23 Apr 2025; stage 3 is the presenter's analysis
SCRIPT: This diagram shows a high-level attack chain, with each stage labelled by confidence. Social engineering and unauthorised access are confirmed by M&amp;S. The third stage, privilege and identity risk, is my analysis, not established fact. Authentication proves who you are, and authorization limits what you can do. If an attacker passes authentication by tricking a human, everything that account is authorised to do is exposed, which is why least privilege and tight control of privileged accounts matter. The final stage, operational disruption, is confirmed; the use of ransomware is reported by the media but I treat it as unconfirmed.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40s
VISUAL: Three CIA cards plus identity strip
SOURCES: M&amp;S 23 Apr and 13 May 2025; Reuters 21 May 2025
SCRIPT: These events map onto the confidentiality, integrity, and availability triad. Confidentiality was affected, because M&amp;S confirmed that some customer data was taken. Integrity was a concern, because the company scanned around six hundred systems for damage before bringing them back online. Availability was clearly hit, since online sales stopped and in-store services such as contactless payment were paused. Underneath all three sits identity: whoever controls an account inherits its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45s
VISUAL: Four sourced stat callouts
SOURCES: M&amp;S RNS 13 May 2025; Reuters 21 May 2025
SCRIPT: M&amp;S said the stolen data did not include usable payment card details or account passwords, which it does not hold on its systems, and that there was no evidence the data had been shared. Customers were prompted to reset their passwords as a precaution. Even so, personal data is a privacy concern, because it can be reused for phishing. Operationally, the company expected online sales to take until July to be fully restored. I am only using figures that M&amp;S or Reuters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45s
VISUAL: Three-column documented vs recommended comparison
SOURCES: M&amp;S RNS 13 May 2025; ICO 2 May 2025; Reuters 21 May 2025
SCRIPT: Here is how M&amp;S responded, based on its own statements. It spotted the activity, brought in outside cyber experts, reported the incident to government authorities and law enforcement, and moved some processes offline. The Information Commissioner's Office confirmed it was making enquiries and working with the National Cyber Security Centre. The third column is my recommendation, not a documented M&amp;S action: rehearse an incident-response plan, prepare communications in advance, isolate affected systems, and restore from clean, tested backups.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60s
VISUAL: Native risk-to-control table
SOURCES: Recommendations are the presenter's analysis supported by Reuters 21 May 2025
SCRIPT: This table maps each risk to a control. Weak verification at a service desk calls for strong identity proofing and call-back procedures. If MFA can be reset by a phone call, it needs phishing-resistant methods such as FIDO2 security keys, and approval for any change. Least privilege and privileged-access management limit what a stolen account can do. Third-party access needs vendor assessments and restrictions. Segmentation and tested offline backups limit ransomware spread. Central logging speeds detection, and training and exercises prepare people to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50s
VISUAL: Six lesson cards with icons
SOURCES: Presenter's analysis; M&amp;S RNS 13 May 2025 (no usable card details held)
SCRIPT: For software engineers and data engineers, the lessons are practical. Treat account recovery as a high-risk feature. Scope service and admin accounts tightly. Practise data minimisation: M&amp;S said it holds no usable card details, which limited the damage. Centralise audit logs and alert on resets and privilege changes. Design for resilience by segmenting systems and testing restores. And protect privacy by encrypting data, limiting retention, and planning breach notification before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30s
VISUAL: Closing statement with four pillars
SOURCES: Synthesis of earlier slides
SCRIPT: To conclude, this incident shows that security is not only about technology. Human factors were the entry point, technical safeguards such as MFA and least privilege reduce the damage, third-party access extends your attack surface, and resilience decides how quickly an organisation recovers.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15s
VISUAL: Reference list
SOURCES: All sources listed on slide
SCRIPT: My sources are listed here, and include M&amp;S's own announcements, the Information Commissioner's Office, and Reuters.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_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PLAIN-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1000</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rgbClr val="9FB0C8"/>
                </a:solidFill>
              </a:rPr>
              <a:t>CS50 Cybersecurity  |  Final Project  |  zunera_7</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100" dirty="0">
                <a:solidFill>
                  <a:srgbClr val="9FB0C8"/>
                </a:solidFill>
              </a:rPr>
              <a:t>CS50 Cybersecurity  |  Final Project  |  zunera_7</a:t>
            </a:r>
            <a:endParaRPr lang="en-US" sz="11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LAI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480560" y="640080"/>
            <a:ext cx="7315200" cy="365760"/>
          </a:xfrm>
          <a:prstGeom prst="rect">
            <a:avLst/>
          </a:prstGeom>
          <a:noFill/>
          <a:ln/>
        </p:spPr>
        <p:txBody>
          <a:bodyPr wrap="square" lIns="0" tIns="0" rIns="0" bIns="0" rtlCol="0" anchor="t"/>
          <a:lstStyle/>
          <a:p>
            <a:pPr indent="0" marL="0">
              <a:buNone/>
            </a:pPr>
            <a:r>
              <a:rPr lang="en-US" sz="1400" b="1" dirty="0">
                <a:solidFill>
                  <a:srgbClr val="22D3EE"/>
                </a:solidFill>
              </a:rPr>
              <a:t>CS50 INTRODUCTION TO CYBERSECURITY  |  FINAL PROJECT</a:t>
            </a:r>
            <a:endParaRPr lang="en-US" sz="1400" dirty="0"/>
          </a:p>
        </p:txBody>
      </p:sp>
      <p:sp>
        <p:nvSpPr>
          <p:cNvPr id="3" name="Text 1"/>
          <p:cNvSpPr txBox="1"/>
          <p:nvPr/>
        </p:nvSpPr>
        <p:spPr>
          <a:xfrm>
            <a:off x="4480560" y="1188720"/>
            <a:ext cx="7498080" cy="1097280"/>
          </a:xfrm>
          <a:prstGeom prst="rect">
            <a:avLst/>
          </a:prstGeom>
          <a:noFill/>
          <a:ln/>
        </p:spPr>
        <p:txBody>
          <a:bodyPr wrap="square" lIns="0" tIns="0" rIns="0" bIns="0" rtlCol="0" anchor="ctr"/>
          <a:lstStyle/>
          <a:p>
            <a:pPr indent="0" marL="0">
              <a:buNone/>
            </a:pPr>
            <a:r>
              <a:rPr lang="en-US" sz="4400" b="1" dirty="0">
                <a:solidFill>
                  <a:srgbClr val="FFFFFF"/>
                </a:solidFill>
              </a:rPr>
              <a:t>The 2025 M&amp;S Cyberattack</a:t>
            </a:r>
            <a:endParaRPr lang="en-US" sz="4400" dirty="0"/>
          </a:p>
        </p:txBody>
      </p:sp>
      <p:sp>
        <p:nvSpPr>
          <p:cNvPr id="4" name="Text 2"/>
          <p:cNvSpPr txBox="1"/>
          <p:nvPr/>
        </p:nvSpPr>
        <p:spPr>
          <a:xfrm>
            <a:off x="4480560" y="2468880"/>
            <a:ext cx="7132320" cy="822960"/>
          </a:xfrm>
          <a:prstGeom prst="rect">
            <a:avLst/>
          </a:prstGeom>
          <a:noFill/>
          <a:ln/>
        </p:spPr>
        <p:txBody>
          <a:bodyPr wrap="square" lIns="0" tIns="0" rIns="0" bIns="0" rtlCol="0" anchor="t"/>
          <a:lstStyle/>
          <a:p>
            <a:pPr indent="0" marL="0">
              <a:buNone/>
            </a:pPr>
            <a:r>
              <a:rPr lang="en-US" sz="2000" dirty="0">
                <a:solidFill>
                  <a:srgbClr val="B6C4DD"/>
                </a:solidFill>
              </a:rPr>
              <a:t>Social engineering, third-party access and lessons for enterprise security</a:t>
            </a:r>
            <a:endParaRPr lang="en-US" sz="2000" dirty="0"/>
          </a:p>
        </p:txBody>
      </p:sp>
      <p:sp>
        <p:nvSpPr>
          <p:cNvPr id="5" name="Info PRESENTER"/>
          <p:cNvSpPr/>
          <p:nvPr/>
        </p:nvSpPr>
        <p:spPr>
          <a:xfrm>
            <a:off x="4480560" y="3840480"/>
            <a:ext cx="2286000" cy="1051560"/>
          </a:xfrm>
          <a:prstGeom prst="roundRect">
            <a:avLst>
              <a:gd name="adj" fmla="val 10435"/>
            </a:avLst>
          </a:prstGeom>
          <a:solidFill>
            <a:srgbClr val="081525"/>
          </a:solidFill>
          <a:ln w="12700">
            <a:solidFill>
              <a:srgbClr val="1C4566"/>
            </a:solidFill>
            <a:prstDash val="solid"/>
          </a:ln>
        </p:spPr>
      </p:sp>
      <p:sp>
        <p:nvSpPr>
          <p:cNvPr id="6" name="Text 4"/>
          <p:cNvSpPr txBox="1"/>
          <p:nvPr/>
        </p:nvSpPr>
        <p:spPr>
          <a:xfrm>
            <a:off x="4663440" y="3995928"/>
            <a:ext cx="2011680" cy="228600"/>
          </a:xfrm>
          <a:prstGeom prst="rect">
            <a:avLst/>
          </a:prstGeom>
          <a:noFill/>
          <a:ln/>
        </p:spPr>
        <p:txBody>
          <a:bodyPr wrap="square" lIns="0" tIns="0" rIns="0" bIns="0" rtlCol="0" anchor="t"/>
          <a:lstStyle/>
          <a:p>
            <a:pPr indent="0" marL="0">
              <a:buNone/>
            </a:pPr>
            <a:r>
              <a:rPr lang="en-US" sz="1100" b="1" dirty="0">
                <a:solidFill>
                  <a:srgbClr val="22D3EE"/>
                </a:solidFill>
              </a:rPr>
              <a:t>PRESENTER</a:t>
            </a:r>
            <a:endParaRPr lang="en-US" sz="1100" dirty="0"/>
          </a:p>
        </p:txBody>
      </p:sp>
      <p:sp>
        <p:nvSpPr>
          <p:cNvPr id="7" name="Text 5"/>
          <p:cNvSpPr txBox="1"/>
          <p:nvPr/>
        </p:nvSpPr>
        <p:spPr>
          <a:xfrm>
            <a:off x="4663440" y="4297680"/>
            <a:ext cx="2011680" cy="457200"/>
          </a:xfrm>
          <a:prstGeom prst="rect">
            <a:avLst/>
          </a:prstGeom>
          <a:noFill/>
          <a:ln/>
        </p:spPr>
        <p:txBody>
          <a:bodyPr wrap="square" lIns="0" tIns="0" rIns="0" bIns="0" rtlCol="0" anchor="t"/>
          <a:lstStyle/>
          <a:p>
            <a:pPr indent="0" marL="0">
              <a:buNone/>
            </a:pPr>
            <a:r>
              <a:rPr lang="en-US" sz="1700" b="1" dirty="0">
                <a:solidFill>
                  <a:srgbClr val="FFFFFF"/>
                </a:solidFill>
              </a:rPr>
              <a:t>Zunera Amber R</a:t>
            </a:r>
            <a:endParaRPr lang="en-US" sz="1700" dirty="0"/>
          </a:p>
        </p:txBody>
      </p:sp>
      <p:sp>
        <p:nvSpPr>
          <p:cNvPr id="8" name="Info EDX USERNAME"/>
          <p:cNvSpPr/>
          <p:nvPr/>
        </p:nvSpPr>
        <p:spPr>
          <a:xfrm>
            <a:off x="6922008" y="3840480"/>
            <a:ext cx="2286000" cy="1051560"/>
          </a:xfrm>
          <a:prstGeom prst="roundRect">
            <a:avLst>
              <a:gd name="adj" fmla="val 10435"/>
            </a:avLst>
          </a:prstGeom>
          <a:solidFill>
            <a:srgbClr val="081525"/>
          </a:solidFill>
          <a:ln w="12700">
            <a:solidFill>
              <a:srgbClr val="1C4566"/>
            </a:solidFill>
            <a:prstDash val="solid"/>
          </a:ln>
        </p:spPr>
      </p:sp>
      <p:sp>
        <p:nvSpPr>
          <p:cNvPr id="9" name="Text 7"/>
          <p:cNvSpPr txBox="1"/>
          <p:nvPr/>
        </p:nvSpPr>
        <p:spPr>
          <a:xfrm>
            <a:off x="7104888" y="3995928"/>
            <a:ext cx="2011680" cy="228600"/>
          </a:xfrm>
          <a:prstGeom prst="rect">
            <a:avLst/>
          </a:prstGeom>
          <a:noFill/>
          <a:ln/>
        </p:spPr>
        <p:txBody>
          <a:bodyPr wrap="square" lIns="0" tIns="0" rIns="0" bIns="0" rtlCol="0" anchor="t"/>
          <a:lstStyle/>
          <a:p>
            <a:pPr indent="0" marL="0">
              <a:buNone/>
            </a:pPr>
            <a:r>
              <a:rPr lang="en-US" sz="1100" b="1" dirty="0">
                <a:solidFill>
                  <a:srgbClr val="22D3EE"/>
                </a:solidFill>
              </a:rPr>
              <a:t>EDX USERNAME</a:t>
            </a:r>
            <a:endParaRPr lang="en-US" sz="1100" dirty="0"/>
          </a:p>
        </p:txBody>
      </p:sp>
      <p:sp>
        <p:nvSpPr>
          <p:cNvPr id="10" name="Text 8"/>
          <p:cNvSpPr txBox="1"/>
          <p:nvPr/>
        </p:nvSpPr>
        <p:spPr>
          <a:xfrm>
            <a:off x="7104888" y="4297680"/>
            <a:ext cx="2011680" cy="457200"/>
          </a:xfrm>
          <a:prstGeom prst="rect">
            <a:avLst/>
          </a:prstGeom>
          <a:noFill/>
          <a:ln/>
        </p:spPr>
        <p:txBody>
          <a:bodyPr wrap="square" lIns="0" tIns="0" rIns="0" bIns="0" rtlCol="0" anchor="t"/>
          <a:lstStyle/>
          <a:p>
            <a:pPr indent="0" marL="0">
              <a:buNone/>
            </a:pPr>
            <a:r>
              <a:rPr lang="en-US" sz="1700" b="1" dirty="0">
                <a:solidFill>
                  <a:srgbClr val="FFFFFF"/>
                </a:solidFill>
              </a:rPr>
              <a:t>zunera_7</a:t>
            </a:r>
            <a:endParaRPr lang="en-US" sz="1700" dirty="0"/>
          </a:p>
        </p:txBody>
      </p:sp>
      <p:sp>
        <p:nvSpPr>
          <p:cNvPr id="11" name="Info GITHUB USERNAME"/>
          <p:cNvSpPr/>
          <p:nvPr/>
        </p:nvSpPr>
        <p:spPr>
          <a:xfrm>
            <a:off x="9363456" y="3840480"/>
            <a:ext cx="2286000" cy="1051560"/>
          </a:xfrm>
          <a:prstGeom prst="roundRect">
            <a:avLst>
              <a:gd name="adj" fmla="val 10435"/>
            </a:avLst>
          </a:prstGeom>
          <a:solidFill>
            <a:srgbClr val="081525"/>
          </a:solidFill>
          <a:ln w="12700">
            <a:solidFill>
              <a:srgbClr val="1C4566"/>
            </a:solidFill>
            <a:prstDash val="solid"/>
          </a:ln>
        </p:spPr>
      </p:sp>
      <p:sp>
        <p:nvSpPr>
          <p:cNvPr id="12" name="Text 10"/>
          <p:cNvSpPr txBox="1"/>
          <p:nvPr/>
        </p:nvSpPr>
        <p:spPr>
          <a:xfrm>
            <a:off x="9546336" y="3995928"/>
            <a:ext cx="2011680" cy="228600"/>
          </a:xfrm>
          <a:prstGeom prst="rect">
            <a:avLst/>
          </a:prstGeom>
          <a:noFill/>
          <a:ln/>
        </p:spPr>
        <p:txBody>
          <a:bodyPr wrap="square" lIns="0" tIns="0" rIns="0" bIns="0" rtlCol="0" anchor="t"/>
          <a:lstStyle/>
          <a:p>
            <a:pPr indent="0" marL="0">
              <a:buNone/>
            </a:pPr>
            <a:r>
              <a:rPr lang="en-US" sz="1100" b="1" dirty="0">
                <a:solidFill>
                  <a:srgbClr val="22D3EE"/>
                </a:solidFill>
              </a:rPr>
              <a:t>GITHUB USERNAME</a:t>
            </a:r>
            <a:endParaRPr lang="en-US" sz="1100" dirty="0"/>
          </a:p>
        </p:txBody>
      </p:sp>
      <p:sp>
        <p:nvSpPr>
          <p:cNvPr id="13" name="Text 11"/>
          <p:cNvSpPr txBox="1"/>
          <p:nvPr/>
        </p:nvSpPr>
        <p:spPr>
          <a:xfrm>
            <a:off x="9546336" y="4297680"/>
            <a:ext cx="2011680" cy="457200"/>
          </a:xfrm>
          <a:prstGeom prst="rect">
            <a:avLst/>
          </a:prstGeom>
          <a:noFill/>
          <a:ln/>
        </p:spPr>
        <p:txBody>
          <a:bodyPr wrap="square" lIns="0" tIns="0" rIns="0" bIns="0" rtlCol="0" anchor="t"/>
          <a:lstStyle/>
          <a:p>
            <a:pPr indent="0" marL="0">
              <a:buNone/>
            </a:pPr>
            <a:r>
              <a:rPr lang="en-US" sz="1700" b="1" dirty="0">
                <a:solidFill>
                  <a:srgbClr val="FFFFFF"/>
                </a:solidFill>
              </a:rPr>
              <a:t>ambercodes20</a:t>
            </a:r>
            <a:endParaRPr lang="en-US" sz="1700" dirty="0"/>
          </a:p>
        </p:txBody>
      </p:sp>
      <p:sp>
        <p:nvSpPr>
          <p:cNvPr id="14" name="Info DATE RECORDED"/>
          <p:cNvSpPr/>
          <p:nvPr/>
        </p:nvSpPr>
        <p:spPr>
          <a:xfrm>
            <a:off x="4480560" y="5029200"/>
            <a:ext cx="2286000" cy="1051560"/>
          </a:xfrm>
          <a:prstGeom prst="roundRect">
            <a:avLst>
              <a:gd name="adj" fmla="val 10435"/>
            </a:avLst>
          </a:prstGeom>
          <a:solidFill>
            <a:srgbClr val="081525"/>
          </a:solidFill>
          <a:ln w="12700">
            <a:solidFill>
              <a:srgbClr val="1C4566"/>
            </a:solidFill>
            <a:prstDash val="solid"/>
          </a:ln>
        </p:spPr>
      </p:sp>
      <p:sp>
        <p:nvSpPr>
          <p:cNvPr id="15" name="Text 13"/>
          <p:cNvSpPr txBox="1"/>
          <p:nvPr/>
        </p:nvSpPr>
        <p:spPr>
          <a:xfrm>
            <a:off x="4663440" y="5184648"/>
            <a:ext cx="2011680" cy="228600"/>
          </a:xfrm>
          <a:prstGeom prst="rect">
            <a:avLst/>
          </a:prstGeom>
          <a:noFill/>
          <a:ln/>
        </p:spPr>
        <p:txBody>
          <a:bodyPr wrap="square" lIns="0" tIns="0" rIns="0" bIns="0" rtlCol="0" anchor="t"/>
          <a:lstStyle/>
          <a:p>
            <a:pPr indent="0" marL="0">
              <a:buNone/>
            </a:pPr>
            <a:r>
              <a:rPr lang="en-US" sz="1100" b="1" dirty="0">
                <a:solidFill>
                  <a:srgbClr val="22D3EE"/>
                </a:solidFill>
              </a:rPr>
              <a:t>DATE RECORDED</a:t>
            </a:r>
            <a:endParaRPr lang="en-US" sz="1100" dirty="0"/>
          </a:p>
        </p:txBody>
      </p:sp>
      <p:sp>
        <p:nvSpPr>
          <p:cNvPr id="16" name="Text 14"/>
          <p:cNvSpPr txBox="1"/>
          <p:nvPr/>
        </p:nvSpPr>
        <p:spPr>
          <a:xfrm>
            <a:off x="4663440" y="5486400"/>
            <a:ext cx="2011680" cy="457200"/>
          </a:xfrm>
          <a:prstGeom prst="rect">
            <a:avLst/>
          </a:prstGeom>
          <a:noFill/>
          <a:ln/>
        </p:spPr>
        <p:txBody>
          <a:bodyPr wrap="square" lIns="0" tIns="0" rIns="0" bIns="0" rtlCol="0" anchor="t"/>
          <a:lstStyle/>
          <a:p>
            <a:pPr indent="0" marL="0">
              <a:buNone/>
            </a:pPr>
            <a:r>
              <a:rPr lang="en-US" sz="1700" b="1" dirty="0">
                <a:solidFill>
                  <a:srgbClr val="FFFFFF"/>
                </a:solidFill>
              </a:rPr>
              <a:t>25 October 2026</a:t>
            </a:r>
            <a:endParaRPr lang="en-US" sz="1700" dirty="0"/>
          </a:p>
        </p:txBody>
      </p:sp>
      <p:sp>
        <p:nvSpPr>
          <p:cNvPr id="17" name="Info INCIDENT"/>
          <p:cNvSpPr/>
          <p:nvPr/>
        </p:nvSpPr>
        <p:spPr>
          <a:xfrm>
            <a:off x="6922008" y="5029200"/>
            <a:ext cx="2286000" cy="1051560"/>
          </a:xfrm>
          <a:prstGeom prst="roundRect">
            <a:avLst>
              <a:gd name="adj" fmla="val 10435"/>
            </a:avLst>
          </a:prstGeom>
          <a:solidFill>
            <a:srgbClr val="081525"/>
          </a:solidFill>
          <a:ln w="12700">
            <a:solidFill>
              <a:srgbClr val="1C4566"/>
            </a:solidFill>
            <a:prstDash val="solid"/>
          </a:ln>
        </p:spPr>
      </p:sp>
      <p:sp>
        <p:nvSpPr>
          <p:cNvPr id="18" name="Text 16"/>
          <p:cNvSpPr txBox="1"/>
          <p:nvPr/>
        </p:nvSpPr>
        <p:spPr>
          <a:xfrm>
            <a:off x="7104888" y="5184648"/>
            <a:ext cx="2011680" cy="228600"/>
          </a:xfrm>
          <a:prstGeom prst="rect">
            <a:avLst/>
          </a:prstGeom>
          <a:noFill/>
          <a:ln/>
        </p:spPr>
        <p:txBody>
          <a:bodyPr wrap="square" lIns="0" tIns="0" rIns="0" bIns="0" rtlCol="0" anchor="t"/>
          <a:lstStyle/>
          <a:p>
            <a:pPr indent="0" marL="0">
              <a:buNone/>
            </a:pPr>
            <a:r>
              <a:rPr lang="en-US" sz="1100" b="1" dirty="0">
                <a:solidFill>
                  <a:srgbClr val="22D3EE"/>
                </a:solidFill>
              </a:rPr>
              <a:t>INCIDENT</a:t>
            </a:r>
            <a:endParaRPr lang="en-US" sz="1100" dirty="0"/>
          </a:p>
        </p:txBody>
      </p:sp>
      <p:sp>
        <p:nvSpPr>
          <p:cNvPr id="19" name="Text 17"/>
          <p:cNvSpPr txBox="1"/>
          <p:nvPr/>
        </p:nvSpPr>
        <p:spPr>
          <a:xfrm>
            <a:off x="7104888" y="5486400"/>
            <a:ext cx="2011680" cy="457200"/>
          </a:xfrm>
          <a:prstGeom prst="rect">
            <a:avLst/>
          </a:prstGeom>
          <a:noFill/>
          <a:ln/>
        </p:spPr>
        <p:txBody>
          <a:bodyPr wrap="square" lIns="0" tIns="0" rIns="0" bIns="0" rtlCol="0" anchor="t"/>
          <a:lstStyle/>
          <a:p>
            <a:pPr indent="0" marL="0">
              <a:buNone/>
            </a:pPr>
            <a:r>
              <a:rPr lang="en-US" sz="1700" b="1" dirty="0">
                <a:solidFill>
                  <a:srgbClr val="FFFFFF"/>
                </a:solidFill>
              </a:rPr>
              <a:t>April 2025</a:t>
            </a:r>
            <a:endParaRPr lang="en-US" sz="1700" dirty="0"/>
          </a:p>
        </p:txBody>
      </p:sp>
      <p:sp>
        <p:nvSpPr>
          <p:cNvPr id="20" name="Info CVE"/>
          <p:cNvSpPr/>
          <p:nvPr/>
        </p:nvSpPr>
        <p:spPr>
          <a:xfrm>
            <a:off x="9363456" y="5029200"/>
            <a:ext cx="2286000" cy="1051560"/>
          </a:xfrm>
          <a:prstGeom prst="roundRect">
            <a:avLst>
              <a:gd name="adj" fmla="val 10435"/>
            </a:avLst>
          </a:prstGeom>
          <a:solidFill>
            <a:srgbClr val="081525"/>
          </a:solidFill>
          <a:ln w="12700">
            <a:solidFill>
              <a:srgbClr val="1C4566"/>
            </a:solidFill>
            <a:prstDash val="solid"/>
          </a:ln>
        </p:spPr>
      </p:sp>
      <p:sp>
        <p:nvSpPr>
          <p:cNvPr id="21" name="Text 19"/>
          <p:cNvSpPr txBox="1"/>
          <p:nvPr/>
        </p:nvSpPr>
        <p:spPr>
          <a:xfrm>
            <a:off x="9546336" y="5184648"/>
            <a:ext cx="2011680" cy="228600"/>
          </a:xfrm>
          <a:prstGeom prst="rect">
            <a:avLst/>
          </a:prstGeom>
          <a:noFill/>
          <a:ln/>
        </p:spPr>
        <p:txBody>
          <a:bodyPr wrap="square" lIns="0" tIns="0" rIns="0" bIns="0" rtlCol="0" anchor="t"/>
          <a:lstStyle/>
          <a:p>
            <a:pPr indent="0" marL="0">
              <a:buNone/>
            </a:pPr>
            <a:r>
              <a:rPr lang="en-US" sz="1100" b="1" dirty="0">
                <a:solidFill>
                  <a:srgbClr val="22D3EE"/>
                </a:solidFill>
              </a:rPr>
              <a:t>CVE</a:t>
            </a:r>
            <a:endParaRPr lang="en-US" sz="1100" dirty="0"/>
          </a:p>
        </p:txBody>
      </p:sp>
      <p:sp>
        <p:nvSpPr>
          <p:cNvPr id="22" name="Text 20"/>
          <p:cNvSpPr txBox="1"/>
          <p:nvPr/>
        </p:nvSpPr>
        <p:spPr>
          <a:xfrm>
            <a:off x="9546336" y="5486400"/>
            <a:ext cx="2011680" cy="457200"/>
          </a:xfrm>
          <a:prstGeom prst="rect">
            <a:avLst/>
          </a:prstGeom>
          <a:noFill/>
          <a:ln/>
        </p:spPr>
        <p:txBody>
          <a:bodyPr wrap="square" lIns="0" tIns="0" rIns="0" bIns="0" rtlCol="0" anchor="t"/>
          <a:lstStyle/>
          <a:p>
            <a:pPr indent="0" marL="0">
              <a:buNone/>
            </a:pPr>
            <a:r>
              <a:rPr lang="en-US" sz="1700" b="1" dirty="0">
                <a:solidFill>
                  <a:srgbClr val="FFFFFF"/>
                </a:solidFill>
              </a:rPr>
              <a:t>None applicable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Breached through people, not software</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22D3EE"/>
          </a:solidFill>
          <a:ln w="12700">
            <a:solidFill>
              <a:srgbClr val="22D3EE"/>
            </a:solidFill>
            <a:prstDash val="solid"/>
          </a:ln>
        </p:spPr>
      </p:sp>
      <p:sp>
        <p:nvSpPr>
          <p:cNvPr id="5" name="Progress 3"/>
          <p:cNvSpPr/>
          <p:nvPr/>
        </p:nvSpPr>
        <p:spPr>
          <a:xfrm>
            <a:off x="2400300" y="6729984"/>
            <a:ext cx="880110" cy="45720"/>
          </a:xfrm>
          <a:prstGeom prst="rect">
            <a:avLst/>
          </a:prstGeom>
          <a:solidFill>
            <a:srgbClr val="0B1B30"/>
          </a:solidFill>
          <a:ln w="12700">
            <a:solidFill>
              <a:srgbClr val="0B1B30"/>
            </a:solidFill>
            <a:prstDash val="solid"/>
          </a:ln>
        </p:spPr>
      </p:sp>
      <p:sp>
        <p:nvSpPr>
          <p:cNvPr id="6" name="Progress 4"/>
          <p:cNvSpPr/>
          <p:nvPr/>
        </p:nvSpPr>
        <p:spPr>
          <a:xfrm>
            <a:off x="3326130" y="6729984"/>
            <a:ext cx="880110" cy="45720"/>
          </a:xfrm>
          <a:prstGeom prst="rect">
            <a:avLst/>
          </a:prstGeom>
          <a:solidFill>
            <a:srgbClr val="0B1B30"/>
          </a:solidFill>
          <a:ln w="12700">
            <a:solidFill>
              <a:srgbClr val="0B1B30"/>
            </a:solidFill>
            <a:prstDash val="solid"/>
          </a:ln>
        </p:spPr>
      </p:sp>
      <p:sp>
        <p:nvSpPr>
          <p:cNvPr id="7" name="Progress 5"/>
          <p:cNvSpPr/>
          <p:nvPr/>
        </p:nvSpPr>
        <p:spPr>
          <a:xfrm>
            <a:off x="4251960" y="6729984"/>
            <a:ext cx="880110" cy="45720"/>
          </a:xfrm>
          <a:prstGeom prst="rect">
            <a:avLst/>
          </a:prstGeom>
          <a:solidFill>
            <a:srgbClr val="0B1B30"/>
          </a:solidFill>
          <a:ln w="12700">
            <a:solidFill>
              <a:srgbClr val="0B1B30"/>
            </a:solidFill>
            <a:prstDash val="solid"/>
          </a:ln>
        </p:spPr>
      </p:sp>
      <p:sp>
        <p:nvSpPr>
          <p:cNvPr id="8" name="Progress 6"/>
          <p:cNvSpPr/>
          <p:nvPr/>
        </p:nvSpPr>
        <p:spPr>
          <a:xfrm>
            <a:off x="5177790" y="6729984"/>
            <a:ext cx="880110" cy="45720"/>
          </a:xfrm>
          <a:prstGeom prst="rect">
            <a:avLst/>
          </a:prstGeom>
          <a:solidFill>
            <a:srgbClr val="0B1B30"/>
          </a:solidFill>
          <a:ln w="12700">
            <a:solidFill>
              <a:srgbClr val="0B1B30"/>
            </a:solidFill>
            <a:prstDash val="solid"/>
          </a:ln>
        </p:spPr>
      </p:sp>
      <p:sp>
        <p:nvSpPr>
          <p:cNvPr id="9" name="Progress 7"/>
          <p:cNvSpPr/>
          <p:nvPr/>
        </p:nvSpPr>
        <p:spPr>
          <a:xfrm>
            <a:off x="6103620" y="6729984"/>
            <a:ext cx="880110" cy="45720"/>
          </a:xfrm>
          <a:prstGeom prst="rect">
            <a:avLst/>
          </a:prstGeom>
          <a:solidFill>
            <a:srgbClr val="0B1B30"/>
          </a:solidFill>
          <a:ln w="12700">
            <a:solidFill>
              <a:srgbClr val="0B1B30"/>
            </a:solidFill>
            <a:prstDash val="solid"/>
          </a:ln>
        </p:spPr>
      </p:sp>
      <p:sp>
        <p:nvSpPr>
          <p:cNvPr id="10" name="Progress 8"/>
          <p:cNvSpPr/>
          <p:nvPr/>
        </p:nvSpPr>
        <p:spPr>
          <a:xfrm>
            <a:off x="7029450" y="6729984"/>
            <a:ext cx="880110" cy="45720"/>
          </a:xfrm>
          <a:prstGeom prst="rect">
            <a:avLst/>
          </a:prstGeom>
          <a:solidFill>
            <a:srgbClr val="0B1B30"/>
          </a:solidFill>
          <a:ln w="12700">
            <a:solidFill>
              <a:srgbClr val="0B1B30"/>
            </a:solidFill>
            <a:prstDash val="solid"/>
          </a:ln>
        </p:spPr>
      </p:sp>
      <p:sp>
        <p:nvSpPr>
          <p:cNvPr id="11" name="Progress 9"/>
          <p:cNvSpPr/>
          <p:nvPr/>
        </p:nvSpPr>
        <p:spPr>
          <a:xfrm>
            <a:off x="7955280" y="6729984"/>
            <a:ext cx="880110" cy="45720"/>
          </a:xfrm>
          <a:prstGeom prst="rect">
            <a:avLst/>
          </a:prstGeom>
          <a:solidFill>
            <a:srgbClr val="0B1B30"/>
          </a:solidFill>
          <a:ln w="12700">
            <a:solidFill>
              <a:srgbClr val="0B1B30"/>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2 / 12  |  CONTEXT"/>
          <p:cNvSpPr/>
          <p:nvPr/>
        </p:nvSpPr>
        <p:spPr>
          <a:xfrm>
            <a:off x="8229600" y="6336792"/>
            <a:ext cx="2377440" cy="274320"/>
          </a:xfrm>
          <a:prstGeom prst="roundRect">
            <a:avLst>
              <a:gd name="adj" fmla="val 26667"/>
            </a:avLst>
          </a:prstGeom>
          <a:solidFill>
            <a:srgbClr val="9FB0C8"/>
          </a:solidFill>
          <a:ln w="12700">
            <a:solidFill>
              <a:srgbClr val="9FB0C8"/>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2 / 12  |  CONTEXT</a:t>
            </a:r>
            <a:endParaRPr lang="en-US" sz="1100" dirty="0"/>
          </a:p>
        </p:txBody>
      </p:sp>
      <p:sp>
        <p:nvSpPr>
          <p:cNvPr id="17" name="Card What happened"/>
          <p:cNvSpPr/>
          <p:nvPr/>
        </p:nvSpPr>
        <p:spPr>
          <a:xfrm>
            <a:off x="548640" y="1463040"/>
            <a:ext cx="3520440" cy="4297680"/>
          </a:xfrm>
          <a:prstGeom prst="roundRect">
            <a:avLst>
              <a:gd name="adj" fmla="val 3117"/>
            </a:avLst>
          </a:prstGeom>
          <a:solidFill>
            <a:srgbClr val="081525"/>
          </a:solidFill>
          <a:ln w="12700">
            <a:solidFill>
              <a:srgbClr val="1C4566"/>
            </a:solidFill>
            <a:prstDash val="solid"/>
          </a:ln>
        </p:spPr>
      </p:sp>
      <p:sp>
        <p:nvSpPr>
          <p:cNvPr id="18" name="Icon What happened"/>
          <p:cNvSpPr/>
          <p:nvPr/>
        </p:nvSpPr>
        <p:spPr>
          <a:xfrm>
            <a:off x="868680" y="1783080"/>
            <a:ext cx="868680" cy="868680"/>
          </a:xfrm>
          <a:prstGeom prst="ellipse">
            <a:avLst/>
          </a:prstGeom>
          <a:solidFill>
            <a:srgbClr val="22D3EE"/>
          </a:solidFill>
          <a:ln w="12700">
            <a:solidFill>
              <a:srgbClr val="22D3EE"/>
            </a:solidFill>
            <a:prstDash val="solid"/>
          </a:ln>
        </p:spPr>
      </p:sp>
      <p:pic>
        <p:nvPicPr>
          <p:cNvPr id="19" name="Image 0" descr="Icon What happened">    </p:cNvPr>
          <p:cNvPicPr>
            <a:picLocks noChangeAspect="1"/>
          </p:cNvPicPr>
          <p:nvPr/>
        </p:nvPicPr>
        <p:blipFill>
          <a:blip r:embed="rId1"/>
          <a:stretch>
            <a:fillRect/>
          </a:stretch>
        </p:blipFill>
        <p:spPr>
          <a:xfrm>
            <a:off x="1111910" y="2026310"/>
            <a:ext cx="382219" cy="382219"/>
          </a:xfrm>
          <a:prstGeom prst="rect">
            <a:avLst/>
          </a:prstGeom>
        </p:spPr>
      </p:pic>
      <p:sp>
        <p:nvSpPr>
          <p:cNvPr id="20" name="Text 17"/>
          <p:cNvSpPr txBox="1"/>
          <p:nvPr/>
        </p:nvSpPr>
        <p:spPr>
          <a:xfrm>
            <a:off x="868680" y="2926080"/>
            <a:ext cx="2926080" cy="548640"/>
          </a:xfrm>
          <a:prstGeom prst="rect">
            <a:avLst/>
          </a:prstGeom>
          <a:noFill/>
          <a:ln/>
        </p:spPr>
        <p:txBody>
          <a:bodyPr wrap="square" lIns="0" tIns="0" rIns="0" bIns="0" rtlCol="0" anchor="t"/>
          <a:lstStyle/>
          <a:p>
            <a:pPr indent="0" marL="0">
              <a:buNone/>
            </a:pPr>
            <a:r>
              <a:rPr lang="en-US" sz="2600" b="1" dirty="0">
                <a:solidFill>
                  <a:srgbClr val="FFFFFF"/>
                </a:solidFill>
              </a:rPr>
              <a:t>What happened</a:t>
            </a:r>
            <a:endParaRPr lang="en-US" sz="2600" dirty="0"/>
          </a:p>
        </p:txBody>
      </p:sp>
      <p:sp>
        <p:nvSpPr>
          <p:cNvPr id="21" name="Text 18"/>
          <p:cNvSpPr txBox="1"/>
          <p:nvPr/>
        </p:nvSpPr>
        <p:spPr>
          <a:xfrm>
            <a:off x="868680" y="3566160"/>
            <a:ext cx="2926080" cy="2011680"/>
          </a:xfrm>
          <a:prstGeom prst="rect">
            <a:avLst/>
          </a:prstGeom>
          <a:noFill/>
          <a:ln/>
        </p:spPr>
        <p:txBody>
          <a:bodyPr wrap="square" lIns="0" tIns="0" rIns="0" bIns="0" rtlCol="0" anchor="t"/>
          <a:lstStyle/>
          <a:p>
            <a:pPr indent="0" marL="0">
              <a:buNone/>
            </a:pPr>
            <a:r>
              <a:rPr lang="en-US" sz="1800" dirty="0">
                <a:solidFill>
                  <a:srgbClr val="9FB0C8"/>
                </a:solidFill>
              </a:rPr>
              <a:t>In April 2025 attackers breached M&amp;S. Online sales stopped, some in-store services paused and customer data was taken.</a:t>
            </a:r>
            <a:endParaRPr lang="en-US" sz="1800" dirty="0"/>
          </a:p>
        </p:txBody>
      </p:sp>
      <p:sp>
        <p:nvSpPr>
          <p:cNvPr id="22" name="Card Why it matters"/>
          <p:cNvSpPr/>
          <p:nvPr/>
        </p:nvSpPr>
        <p:spPr>
          <a:xfrm>
            <a:off x="4343400" y="1463040"/>
            <a:ext cx="3520440" cy="4297680"/>
          </a:xfrm>
          <a:prstGeom prst="roundRect">
            <a:avLst>
              <a:gd name="adj" fmla="val 3117"/>
            </a:avLst>
          </a:prstGeom>
          <a:solidFill>
            <a:srgbClr val="081525"/>
          </a:solidFill>
          <a:ln w="12700">
            <a:solidFill>
              <a:srgbClr val="1C4566"/>
            </a:solidFill>
            <a:prstDash val="solid"/>
          </a:ln>
        </p:spPr>
      </p:sp>
      <p:sp>
        <p:nvSpPr>
          <p:cNvPr id="23" name="Icon Why it matters"/>
          <p:cNvSpPr/>
          <p:nvPr/>
        </p:nvSpPr>
        <p:spPr>
          <a:xfrm>
            <a:off x="4663440" y="1783080"/>
            <a:ext cx="868680" cy="868680"/>
          </a:xfrm>
          <a:prstGeom prst="ellipse">
            <a:avLst/>
          </a:prstGeom>
          <a:solidFill>
            <a:srgbClr val="22D3EE"/>
          </a:solidFill>
          <a:ln w="12700">
            <a:solidFill>
              <a:srgbClr val="22D3EE"/>
            </a:solidFill>
            <a:prstDash val="solid"/>
          </a:ln>
        </p:spPr>
      </p:sp>
      <p:pic>
        <p:nvPicPr>
          <p:cNvPr id="24" name="Image 1" descr="Icon Why it matters">    </p:cNvPr>
          <p:cNvPicPr>
            <a:picLocks noChangeAspect="1"/>
          </p:cNvPicPr>
          <p:nvPr/>
        </p:nvPicPr>
        <p:blipFill>
          <a:blip r:embed="rId2"/>
          <a:stretch>
            <a:fillRect/>
          </a:stretch>
        </p:blipFill>
        <p:spPr>
          <a:xfrm>
            <a:off x="4906670" y="2026310"/>
            <a:ext cx="382219" cy="382219"/>
          </a:xfrm>
          <a:prstGeom prst="rect">
            <a:avLst/>
          </a:prstGeom>
        </p:spPr>
      </p:pic>
      <p:sp>
        <p:nvSpPr>
          <p:cNvPr id="25" name="Text 21"/>
          <p:cNvSpPr txBox="1"/>
          <p:nvPr/>
        </p:nvSpPr>
        <p:spPr>
          <a:xfrm>
            <a:off x="4663440" y="2926080"/>
            <a:ext cx="2926080" cy="548640"/>
          </a:xfrm>
          <a:prstGeom prst="rect">
            <a:avLst/>
          </a:prstGeom>
          <a:noFill/>
          <a:ln/>
        </p:spPr>
        <p:txBody>
          <a:bodyPr wrap="square" lIns="0" tIns="0" rIns="0" bIns="0" rtlCol="0" anchor="t"/>
          <a:lstStyle/>
          <a:p>
            <a:pPr indent="0" marL="0">
              <a:buNone/>
            </a:pPr>
            <a:r>
              <a:rPr lang="en-US" sz="2600" b="1" dirty="0">
                <a:solidFill>
                  <a:srgbClr val="FFFFFF"/>
                </a:solidFill>
              </a:rPr>
              <a:t>Why it matters</a:t>
            </a:r>
            <a:endParaRPr lang="en-US" sz="2600" dirty="0"/>
          </a:p>
        </p:txBody>
      </p:sp>
      <p:sp>
        <p:nvSpPr>
          <p:cNvPr id="26" name="Text 22"/>
          <p:cNvSpPr txBox="1"/>
          <p:nvPr/>
        </p:nvSpPr>
        <p:spPr>
          <a:xfrm>
            <a:off x="4663440" y="3566160"/>
            <a:ext cx="2926080" cy="2011680"/>
          </a:xfrm>
          <a:prstGeom prst="rect">
            <a:avLst/>
          </a:prstGeom>
          <a:noFill/>
          <a:ln/>
        </p:spPr>
        <p:txBody>
          <a:bodyPr wrap="square" lIns="0" tIns="0" rIns="0" bIns="0" rtlCol="0" anchor="t"/>
          <a:lstStyle/>
          <a:p>
            <a:pPr indent="0" marL="0">
              <a:buNone/>
            </a:pPr>
            <a:r>
              <a:rPr lang="en-US" sz="1800" dirty="0">
                <a:solidFill>
                  <a:srgbClr val="9FB0C8"/>
                </a:solidFill>
              </a:rPr>
              <a:t>A retailer with nearly £14bn in annual sales was disrupted through people and process, not a software flaw.</a:t>
            </a:r>
            <a:endParaRPr lang="en-US" sz="1800" dirty="0"/>
          </a:p>
        </p:txBody>
      </p:sp>
      <p:sp>
        <p:nvSpPr>
          <p:cNvPr id="27" name="Card My lens"/>
          <p:cNvSpPr/>
          <p:nvPr/>
        </p:nvSpPr>
        <p:spPr>
          <a:xfrm>
            <a:off x="8138160" y="1463040"/>
            <a:ext cx="3520440" cy="4297680"/>
          </a:xfrm>
          <a:prstGeom prst="roundRect">
            <a:avLst>
              <a:gd name="adj" fmla="val 3117"/>
            </a:avLst>
          </a:prstGeom>
          <a:solidFill>
            <a:srgbClr val="081525"/>
          </a:solidFill>
          <a:ln w="12700">
            <a:solidFill>
              <a:srgbClr val="1C4566"/>
            </a:solidFill>
            <a:prstDash val="solid"/>
          </a:ln>
        </p:spPr>
      </p:sp>
      <p:sp>
        <p:nvSpPr>
          <p:cNvPr id="28" name="Icon My lens"/>
          <p:cNvSpPr/>
          <p:nvPr/>
        </p:nvSpPr>
        <p:spPr>
          <a:xfrm>
            <a:off x="8458200" y="1783080"/>
            <a:ext cx="868680" cy="868680"/>
          </a:xfrm>
          <a:prstGeom prst="ellipse">
            <a:avLst/>
          </a:prstGeom>
          <a:solidFill>
            <a:srgbClr val="22D3EE"/>
          </a:solidFill>
          <a:ln w="12700">
            <a:solidFill>
              <a:srgbClr val="22D3EE"/>
            </a:solidFill>
            <a:prstDash val="solid"/>
          </a:ln>
        </p:spPr>
      </p:sp>
      <p:pic>
        <p:nvPicPr>
          <p:cNvPr id="29" name="Image 2" descr="Icon My lens">    </p:cNvPr>
          <p:cNvPicPr>
            <a:picLocks noChangeAspect="1"/>
          </p:cNvPicPr>
          <p:nvPr/>
        </p:nvPicPr>
        <p:blipFill>
          <a:blip r:embed="rId3"/>
          <a:stretch>
            <a:fillRect/>
          </a:stretch>
        </p:blipFill>
        <p:spPr>
          <a:xfrm>
            <a:off x="8701430" y="2026310"/>
            <a:ext cx="382219" cy="382219"/>
          </a:xfrm>
          <a:prstGeom prst="rect">
            <a:avLst/>
          </a:prstGeom>
        </p:spPr>
      </p:pic>
      <p:sp>
        <p:nvSpPr>
          <p:cNvPr id="30" name="Text 25"/>
          <p:cNvSpPr txBox="1"/>
          <p:nvPr/>
        </p:nvSpPr>
        <p:spPr>
          <a:xfrm>
            <a:off x="8458200" y="2926080"/>
            <a:ext cx="2926080" cy="548640"/>
          </a:xfrm>
          <a:prstGeom prst="rect">
            <a:avLst/>
          </a:prstGeom>
          <a:noFill/>
          <a:ln/>
        </p:spPr>
        <p:txBody>
          <a:bodyPr wrap="square" lIns="0" tIns="0" rIns="0" bIns="0" rtlCol="0" anchor="t"/>
          <a:lstStyle/>
          <a:p>
            <a:pPr indent="0" marL="0">
              <a:buNone/>
            </a:pPr>
            <a:r>
              <a:rPr lang="en-US" sz="2600" b="1" dirty="0">
                <a:solidFill>
                  <a:srgbClr val="FFFFFF"/>
                </a:solidFill>
              </a:rPr>
              <a:t>My lens</a:t>
            </a:r>
            <a:endParaRPr lang="en-US" sz="2600" dirty="0"/>
          </a:p>
        </p:txBody>
      </p:sp>
      <p:sp>
        <p:nvSpPr>
          <p:cNvPr id="31" name="Text 26"/>
          <p:cNvSpPr txBox="1"/>
          <p:nvPr/>
        </p:nvSpPr>
        <p:spPr>
          <a:xfrm>
            <a:off x="8458200" y="3566160"/>
            <a:ext cx="2926080" cy="2011680"/>
          </a:xfrm>
          <a:prstGeom prst="rect">
            <a:avLst/>
          </a:prstGeom>
          <a:noFill/>
          <a:ln/>
        </p:spPr>
        <p:txBody>
          <a:bodyPr wrap="square" lIns="0" tIns="0" rIns="0" bIns="0" rtlCol="0" anchor="t"/>
          <a:lstStyle/>
          <a:p>
            <a:pPr indent="0" marL="0">
              <a:buNone/>
            </a:pPr>
            <a:r>
              <a:rPr lang="en-US" sz="1800" dirty="0">
                <a:solidFill>
                  <a:srgbClr val="9FB0C8"/>
                </a:solidFill>
              </a:rPr>
              <a:t>Trust (who is believed), access (what that unlocks) and recovery (how fast you restore).</a:t>
            </a:r>
            <a:endParaRPr lang="en-US" sz="1800" dirty="0"/>
          </a:p>
        </p:txBody>
      </p:sp>
      <p:sp>
        <p:nvSpPr>
          <p:cNvPr id="32" name="Text 27"/>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M&amp;S newsroom 23 Apr 2025; M&amp;S RNS 13 May 2025; Reuters 21 May 2025</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Timeline: detection, disclosure, disruption</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22D3EE"/>
          </a:solidFill>
          <a:ln w="12700">
            <a:solidFill>
              <a:srgbClr val="22D3EE"/>
            </a:solidFill>
            <a:prstDash val="solid"/>
          </a:ln>
        </p:spPr>
      </p:sp>
      <p:sp>
        <p:nvSpPr>
          <p:cNvPr id="6" name="Progress 4"/>
          <p:cNvSpPr/>
          <p:nvPr/>
        </p:nvSpPr>
        <p:spPr>
          <a:xfrm>
            <a:off x="3326130" y="6729984"/>
            <a:ext cx="880110" cy="45720"/>
          </a:xfrm>
          <a:prstGeom prst="rect">
            <a:avLst/>
          </a:prstGeom>
          <a:solidFill>
            <a:srgbClr val="0B1B30"/>
          </a:solidFill>
          <a:ln w="12700">
            <a:solidFill>
              <a:srgbClr val="0B1B30"/>
            </a:solidFill>
            <a:prstDash val="solid"/>
          </a:ln>
        </p:spPr>
      </p:sp>
      <p:sp>
        <p:nvSpPr>
          <p:cNvPr id="7" name="Progress 5"/>
          <p:cNvSpPr/>
          <p:nvPr/>
        </p:nvSpPr>
        <p:spPr>
          <a:xfrm>
            <a:off x="4251960" y="6729984"/>
            <a:ext cx="880110" cy="45720"/>
          </a:xfrm>
          <a:prstGeom prst="rect">
            <a:avLst/>
          </a:prstGeom>
          <a:solidFill>
            <a:srgbClr val="0B1B30"/>
          </a:solidFill>
          <a:ln w="12700">
            <a:solidFill>
              <a:srgbClr val="0B1B30"/>
            </a:solidFill>
            <a:prstDash val="solid"/>
          </a:ln>
        </p:spPr>
      </p:sp>
      <p:sp>
        <p:nvSpPr>
          <p:cNvPr id="8" name="Progress 6"/>
          <p:cNvSpPr/>
          <p:nvPr/>
        </p:nvSpPr>
        <p:spPr>
          <a:xfrm>
            <a:off x="5177790" y="6729984"/>
            <a:ext cx="880110" cy="45720"/>
          </a:xfrm>
          <a:prstGeom prst="rect">
            <a:avLst/>
          </a:prstGeom>
          <a:solidFill>
            <a:srgbClr val="0B1B30"/>
          </a:solidFill>
          <a:ln w="12700">
            <a:solidFill>
              <a:srgbClr val="0B1B30"/>
            </a:solidFill>
            <a:prstDash val="solid"/>
          </a:ln>
        </p:spPr>
      </p:sp>
      <p:sp>
        <p:nvSpPr>
          <p:cNvPr id="9" name="Progress 7"/>
          <p:cNvSpPr/>
          <p:nvPr/>
        </p:nvSpPr>
        <p:spPr>
          <a:xfrm>
            <a:off x="6103620" y="6729984"/>
            <a:ext cx="880110" cy="45720"/>
          </a:xfrm>
          <a:prstGeom prst="rect">
            <a:avLst/>
          </a:prstGeom>
          <a:solidFill>
            <a:srgbClr val="0B1B30"/>
          </a:solidFill>
          <a:ln w="12700">
            <a:solidFill>
              <a:srgbClr val="0B1B30"/>
            </a:solidFill>
            <a:prstDash val="solid"/>
          </a:ln>
        </p:spPr>
      </p:sp>
      <p:sp>
        <p:nvSpPr>
          <p:cNvPr id="10" name="Progress 8"/>
          <p:cNvSpPr/>
          <p:nvPr/>
        </p:nvSpPr>
        <p:spPr>
          <a:xfrm>
            <a:off x="7029450" y="6729984"/>
            <a:ext cx="880110" cy="45720"/>
          </a:xfrm>
          <a:prstGeom prst="rect">
            <a:avLst/>
          </a:prstGeom>
          <a:solidFill>
            <a:srgbClr val="0B1B30"/>
          </a:solidFill>
          <a:ln w="12700">
            <a:solidFill>
              <a:srgbClr val="0B1B30"/>
            </a:solidFill>
            <a:prstDash val="solid"/>
          </a:ln>
        </p:spPr>
      </p:sp>
      <p:sp>
        <p:nvSpPr>
          <p:cNvPr id="11" name="Progress 9"/>
          <p:cNvSpPr/>
          <p:nvPr/>
        </p:nvSpPr>
        <p:spPr>
          <a:xfrm>
            <a:off x="7955280" y="6729984"/>
            <a:ext cx="880110" cy="45720"/>
          </a:xfrm>
          <a:prstGeom prst="rect">
            <a:avLst/>
          </a:prstGeom>
          <a:solidFill>
            <a:srgbClr val="0B1B30"/>
          </a:solidFill>
          <a:ln w="12700">
            <a:solidFill>
              <a:srgbClr val="0B1B30"/>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3 / 12  |  CONTEXT"/>
          <p:cNvSpPr/>
          <p:nvPr/>
        </p:nvSpPr>
        <p:spPr>
          <a:xfrm>
            <a:off x="8229600" y="6336792"/>
            <a:ext cx="2377440" cy="274320"/>
          </a:xfrm>
          <a:prstGeom prst="roundRect">
            <a:avLst>
              <a:gd name="adj" fmla="val 26667"/>
            </a:avLst>
          </a:prstGeom>
          <a:solidFill>
            <a:srgbClr val="9FB0C8"/>
          </a:solidFill>
          <a:ln w="12700">
            <a:solidFill>
              <a:srgbClr val="9FB0C8"/>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3 / 12  |  CONTEXT</a:t>
            </a:r>
            <a:endParaRPr lang="en-US" sz="1100" dirty="0"/>
          </a:p>
        </p:txBody>
      </p:sp>
      <p:sp>
        <p:nvSpPr>
          <p:cNvPr id="17" name="Timeline line"/>
          <p:cNvSpPr/>
          <p:nvPr/>
        </p:nvSpPr>
        <p:spPr>
          <a:xfrm>
            <a:off x="822960" y="3246120"/>
            <a:ext cx="10515600" cy="0"/>
          </a:xfrm>
          <a:prstGeom prst="line">
            <a:avLst/>
          </a:prstGeom>
          <a:noFill/>
          <a:ln w="38100">
            <a:solidFill>
              <a:srgbClr val="1C4566"/>
            </a:solidFill>
            <a:prstDash val="solid"/>
          </a:ln>
        </p:spPr>
      </p:sp>
      <p:sp>
        <p:nvSpPr>
          <p:cNvPr id="18" name="Node 1"/>
          <p:cNvSpPr/>
          <p:nvPr/>
        </p:nvSpPr>
        <p:spPr>
          <a:xfrm>
            <a:off x="1280160" y="3063240"/>
            <a:ext cx="365760" cy="365760"/>
          </a:xfrm>
          <a:prstGeom prst="ellipse">
            <a:avLst/>
          </a:prstGeom>
          <a:solidFill>
            <a:srgbClr val="FBBF24"/>
          </a:solidFill>
          <a:ln w="12700">
            <a:solidFill>
              <a:srgbClr val="FBBF24"/>
            </a:solidFill>
            <a:prstDash val="solid"/>
          </a:ln>
        </p:spPr>
      </p:sp>
      <p:sp>
        <p:nvSpPr>
          <p:cNvPr id="19" name="Chip OCCURRENCE"/>
          <p:cNvSpPr/>
          <p:nvPr/>
        </p:nvSpPr>
        <p:spPr>
          <a:xfrm>
            <a:off x="594360" y="1600200"/>
            <a:ext cx="1737360" cy="274320"/>
          </a:xfrm>
          <a:prstGeom prst="roundRect">
            <a:avLst>
              <a:gd name="adj" fmla="val 26667"/>
            </a:avLst>
          </a:prstGeom>
          <a:solidFill>
            <a:srgbClr val="FBBF24"/>
          </a:solidFill>
          <a:ln w="12700">
            <a:solidFill>
              <a:srgbClr val="FBBF24"/>
            </a:solidFill>
            <a:prstDash val="solid"/>
          </a:ln>
        </p:spPr>
      </p:sp>
      <p:sp>
        <p:nvSpPr>
          <p:cNvPr id="20" name="Text 18"/>
          <p:cNvSpPr txBox="1"/>
          <p:nvPr/>
        </p:nvSpPr>
        <p:spPr>
          <a:xfrm>
            <a:off x="594360" y="1600200"/>
            <a:ext cx="1737360" cy="274320"/>
          </a:xfrm>
          <a:prstGeom prst="rect">
            <a:avLst/>
          </a:prstGeom>
          <a:noFill/>
          <a:ln/>
        </p:spPr>
        <p:txBody>
          <a:bodyPr wrap="square" lIns="0" tIns="0" rIns="0" bIns="0" rtlCol="0" anchor="ctr"/>
          <a:lstStyle/>
          <a:p>
            <a:pPr algn="ctr" indent="0" marL="0">
              <a:buNone/>
            </a:pPr>
            <a:r>
              <a:rPr lang="en-US" sz="1100" b="1" dirty="0">
                <a:solidFill>
                  <a:srgbClr val="02050D"/>
                </a:solidFill>
              </a:rPr>
              <a:t>OCCURRENCE</a:t>
            </a:r>
            <a:endParaRPr lang="en-US" sz="1100" dirty="0"/>
          </a:p>
        </p:txBody>
      </p:sp>
      <p:sp>
        <p:nvSpPr>
          <p:cNvPr id="21" name="Text 19"/>
          <p:cNvSpPr txBox="1"/>
          <p:nvPr/>
        </p:nvSpPr>
        <p:spPr>
          <a:xfrm>
            <a:off x="411480" y="2011680"/>
            <a:ext cx="2103120" cy="457200"/>
          </a:xfrm>
          <a:prstGeom prst="rect">
            <a:avLst/>
          </a:prstGeom>
          <a:noFill/>
          <a:ln/>
        </p:spPr>
        <p:txBody>
          <a:bodyPr wrap="square" lIns="0" tIns="0" rIns="0" bIns="0" rtlCol="0" anchor="t"/>
          <a:lstStyle/>
          <a:p>
            <a:pPr algn="ctr" indent="0" marL="0">
              <a:buNone/>
            </a:pPr>
            <a:r>
              <a:rPr lang="en-US" sz="2200" b="1" dirty="0">
                <a:solidFill>
                  <a:srgbClr val="FFFFFF"/>
                </a:solidFill>
              </a:rPr>
              <a:t>19-20 Apr</a:t>
            </a:r>
            <a:endParaRPr lang="en-US" sz="2200" dirty="0"/>
          </a:p>
        </p:txBody>
      </p:sp>
      <p:sp>
        <p:nvSpPr>
          <p:cNvPr id="22" name="Text 20"/>
          <p:cNvSpPr txBox="1"/>
          <p:nvPr/>
        </p:nvSpPr>
        <p:spPr>
          <a:xfrm>
            <a:off x="411480" y="2514600"/>
            <a:ext cx="2103120" cy="320040"/>
          </a:xfrm>
          <a:prstGeom prst="rect">
            <a:avLst/>
          </a:prstGeom>
          <a:noFill/>
          <a:ln/>
        </p:spPr>
        <p:txBody>
          <a:bodyPr wrap="square" lIns="0" tIns="0" rIns="0" bIns="0" rtlCol="0" anchor="t"/>
          <a:lstStyle/>
          <a:p>
            <a:pPr algn="ctr" indent="0" marL="0">
              <a:buNone/>
            </a:pPr>
            <a:r>
              <a:rPr lang="en-US" sz="1400" dirty="0">
                <a:solidFill>
                  <a:srgbClr val="9FB0C8"/>
                </a:solidFill>
              </a:rPr>
              <a:t>Easter weekend</a:t>
            </a:r>
            <a:endParaRPr lang="en-US" sz="1400" dirty="0"/>
          </a:p>
        </p:txBody>
      </p:sp>
      <p:sp>
        <p:nvSpPr>
          <p:cNvPr id="23" name="Text 21"/>
          <p:cNvSpPr txBox="1"/>
          <p:nvPr/>
        </p:nvSpPr>
        <p:spPr>
          <a:xfrm>
            <a:off x="457200" y="3657600"/>
            <a:ext cx="2011680" cy="2011680"/>
          </a:xfrm>
          <a:prstGeom prst="rect">
            <a:avLst/>
          </a:prstGeom>
          <a:noFill/>
          <a:ln/>
        </p:spPr>
        <p:txBody>
          <a:bodyPr wrap="square" lIns="0" tIns="0" rIns="0" bIns="0" rtlCol="0" anchor="t"/>
          <a:lstStyle/>
          <a:p>
            <a:pPr algn="ctr" indent="0" marL="0">
              <a:buNone/>
            </a:pPr>
            <a:r>
              <a:rPr lang="en-US" sz="1500" dirty="0">
                <a:solidFill>
                  <a:srgbClr val="FFFFFF"/>
                </a:solidFill>
              </a:rPr>
              <a:t>Suspicious activity spotted (CEO, via Reuters)</a:t>
            </a:r>
            <a:endParaRPr lang="en-US" sz="1500" dirty="0"/>
          </a:p>
        </p:txBody>
      </p:sp>
      <p:sp>
        <p:nvSpPr>
          <p:cNvPr id="24" name="Node 2"/>
          <p:cNvSpPr/>
          <p:nvPr/>
        </p:nvSpPr>
        <p:spPr>
          <a:xfrm>
            <a:off x="3611880" y="3063240"/>
            <a:ext cx="365760" cy="365760"/>
          </a:xfrm>
          <a:prstGeom prst="ellipse">
            <a:avLst/>
          </a:prstGeom>
          <a:solidFill>
            <a:srgbClr val="22D3EE"/>
          </a:solidFill>
          <a:ln w="12700">
            <a:solidFill>
              <a:srgbClr val="22D3EE"/>
            </a:solidFill>
            <a:prstDash val="solid"/>
          </a:ln>
        </p:spPr>
      </p:sp>
      <p:sp>
        <p:nvSpPr>
          <p:cNvPr id="25" name="Chip DISCLOSURE"/>
          <p:cNvSpPr/>
          <p:nvPr/>
        </p:nvSpPr>
        <p:spPr>
          <a:xfrm>
            <a:off x="2926080" y="1600200"/>
            <a:ext cx="1737360" cy="274320"/>
          </a:xfrm>
          <a:prstGeom prst="roundRect">
            <a:avLst>
              <a:gd name="adj" fmla="val 26667"/>
            </a:avLst>
          </a:prstGeom>
          <a:solidFill>
            <a:srgbClr val="22D3EE"/>
          </a:solidFill>
          <a:ln w="12700">
            <a:solidFill>
              <a:srgbClr val="22D3EE"/>
            </a:solidFill>
            <a:prstDash val="solid"/>
          </a:ln>
        </p:spPr>
      </p:sp>
      <p:sp>
        <p:nvSpPr>
          <p:cNvPr id="26" name="Text 24"/>
          <p:cNvSpPr txBox="1"/>
          <p:nvPr/>
        </p:nvSpPr>
        <p:spPr>
          <a:xfrm>
            <a:off x="2926080" y="1600200"/>
            <a:ext cx="1737360" cy="274320"/>
          </a:xfrm>
          <a:prstGeom prst="rect">
            <a:avLst/>
          </a:prstGeom>
          <a:noFill/>
          <a:ln/>
        </p:spPr>
        <p:txBody>
          <a:bodyPr wrap="square" lIns="0" tIns="0" rIns="0" bIns="0" rtlCol="0" anchor="ctr"/>
          <a:lstStyle/>
          <a:p>
            <a:pPr algn="ctr" indent="0" marL="0">
              <a:buNone/>
            </a:pPr>
            <a:r>
              <a:rPr lang="en-US" sz="1100" b="1" dirty="0">
                <a:solidFill>
                  <a:srgbClr val="02050D"/>
                </a:solidFill>
              </a:rPr>
              <a:t>DISCLOSURE</a:t>
            </a:r>
            <a:endParaRPr lang="en-US" sz="1100" dirty="0"/>
          </a:p>
        </p:txBody>
      </p:sp>
      <p:sp>
        <p:nvSpPr>
          <p:cNvPr id="27" name="Text 25"/>
          <p:cNvSpPr txBox="1"/>
          <p:nvPr/>
        </p:nvSpPr>
        <p:spPr>
          <a:xfrm>
            <a:off x="2743200" y="2011680"/>
            <a:ext cx="2103120" cy="457200"/>
          </a:xfrm>
          <a:prstGeom prst="rect">
            <a:avLst/>
          </a:prstGeom>
          <a:noFill/>
          <a:ln/>
        </p:spPr>
        <p:txBody>
          <a:bodyPr wrap="square" lIns="0" tIns="0" rIns="0" bIns="0" rtlCol="0" anchor="t"/>
          <a:lstStyle/>
          <a:p>
            <a:pPr algn="ctr" indent="0" marL="0">
              <a:buNone/>
            </a:pPr>
            <a:r>
              <a:rPr lang="en-US" sz="2200" b="1" dirty="0">
                <a:solidFill>
                  <a:srgbClr val="FFFFFF"/>
                </a:solidFill>
              </a:rPr>
              <a:t>22 Apr</a:t>
            </a:r>
            <a:endParaRPr lang="en-US" sz="2200" dirty="0"/>
          </a:p>
        </p:txBody>
      </p:sp>
      <p:sp>
        <p:nvSpPr>
          <p:cNvPr id="28" name="Text 26"/>
          <p:cNvSpPr txBox="1"/>
          <p:nvPr/>
        </p:nvSpPr>
        <p:spPr>
          <a:xfrm>
            <a:off x="2743200" y="2514600"/>
            <a:ext cx="2103120" cy="320040"/>
          </a:xfrm>
          <a:prstGeom prst="rect">
            <a:avLst/>
          </a:prstGeom>
          <a:noFill/>
          <a:ln/>
        </p:spPr>
        <p:txBody>
          <a:bodyPr wrap="square" lIns="0" tIns="0" rIns="0" bIns="0" rtlCol="0" anchor="t"/>
          <a:lstStyle/>
          <a:p>
            <a:pPr algn="ctr" indent="0" marL="0">
              <a:buNone/>
            </a:pPr>
            <a:r>
              <a:rPr lang="en-US" sz="1400" dirty="0">
                <a:solidFill>
                  <a:srgbClr val="9FB0C8"/>
                </a:solidFill>
              </a:rPr>
              <a:t>2025</a:t>
            </a:r>
            <a:endParaRPr lang="en-US" sz="1400" dirty="0"/>
          </a:p>
        </p:txBody>
      </p:sp>
      <p:sp>
        <p:nvSpPr>
          <p:cNvPr id="29" name="Text 27"/>
          <p:cNvSpPr txBox="1"/>
          <p:nvPr/>
        </p:nvSpPr>
        <p:spPr>
          <a:xfrm>
            <a:off x="2788920" y="3657600"/>
            <a:ext cx="2011680" cy="2011680"/>
          </a:xfrm>
          <a:prstGeom prst="rect">
            <a:avLst/>
          </a:prstGeom>
          <a:noFill/>
          <a:ln/>
        </p:spPr>
        <p:txBody>
          <a:bodyPr wrap="square" lIns="0" tIns="0" rIns="0" bIns="0" rtlCol="0" anchor="t"/>
          <a:lstStyle/>
          <a:p>
            <a:pPr algn="ctr" indent="0" marL="0">
              <a:buNone/>
            </a:pPr>
            <a:r>
              <a:rPr lang="en-US" sz="1500" dirty="0">
                <a:solidFill>
                  <a:srgbClr val="FFFFFF"/>
                </a:solidFill>
              </a:rPr>
              <a:t>M&amp;S reports a cyber incident</a:t>
            </a:r>
            <a:endParaRPr lang="en-US" sz="1500" dirty="0"/>
          </a:p>
        </p:txBody>
      </p:sp>
      <p:sp>
        <p:nvSpPr>
          <p:cNvPr id="30" name="Node 3"/>
          <p:cNvSpPr/>
          <p:nvPr/>
        </p:nvSpPr>
        <p:spPr>
          <a:xfrm>
            <a:off x="5943600" y="3063240"/>
            <a:ext cx="365760" cy="365760"/>
          </a:xfrm>
          <a:prstGeom prst="ellipse">
            <a:avLst/>
          </a:prstGeom>
          <a:solidFill>
            <a:srgbClr val="22D3EE"/>
          </a:solidFill>
          <a:ln w="12700">
            <a:solidFill>
              <a:srgbClr val="22D3EE"/>
            </a:solidFill>
            <a:prstDash val="solid"/>
          </a:ln>
        </p:spPr>
      </p:sp>
      <p:sp>
        <p:nvSpPr>
          <p:cNvPr id="31" name="Chip RESPONSE"/>
          <p:cNvSpPr/>
          <p:nvPr/>
        </p:nvSpPr>
        <p:spPr>
          <a:xfrm>
            <a:off x="5257800" y="1600200"/>
            <a:ext cx="1737360" cy="274320"/>
          </a:xfrm>
          <a:prstGeom prst="roundRect">
            <a:avLst>
              <a:gd name="adj" fmla="val 26667"/>
            </a:avLst>
          </a:prstGeom>
          <a:solidFill>
            <a:srgbClr val="22D3EE"/>
          </a:solidFill>
          <a:ln w="12700">
            <a:solidFill>
              <a:srgbClr val="22D3EE"/>
            </a:solidFill>
            <a:prstDash val="solid"/>
          </a:ln>
        </p:spPr>
      </p:sp>
      <p:sp>
        <p:nvSpPr>
          <p:cNvPr id="32" name="Text 30"/>
          <p:cNvSpPr txBox="1"/>
          <p:nvPr/>
        </p:nvSpPr>
        <p:spPr>
          <a:xfrm>
            <a:off x="5257800" y="1600200"/>
            <a:ext cx="1737360" cy="274320"/>
          </a:xfrm>
          <a:prstGeom prst="rect">
            <a:avLst/>
          </a:prstGeom>
          <a:noFill/>
          <a:ln/>
        </p:spPr>
        <p:txBody>
          <a:bodyPr wrap="square" lIns="0" tIns="0" rIns="0" bIns="0" rtlCol="0" anchor="ctr"/>
          <a:lstStyle/>
          <a:p>
            <a:pPr algn="ctr" indent="0" marL="0">
              <a:buNone/>
            </a:pPr>
            <a:r>
              <a:rPr lang="en-US" sz="1100" b="1" dirty="0">
                <a:solidFill>
                  <a:srgbClr val="02050D"/>
                </a:solidFill>
              </a:rPr>
              <a:t>RESPONSE</a:t>
            </a:r>
            <a:endParaRPr lang="en-US" sz="1100" dirty="0"/>
          </a:p>
        </p:txBody>
      </p:sp>
      <p:sp>
        <p:nvSpPr>
          <p:cNvPr id="33" name="Text 31"/>
          <p:cNvSpPr txBox="1"/>
          <p:nvPr/>
        </p:nvSpPr>
        <p:spPr>
          <a:xfrm>
            <a:off x="5074920" y="2011680"/>
            <a:ext cx="2103120" cy="457200"/>
          </a:xfrm>
          <a:prstGeom prst="rect">
            <a:avLst/>
          </a:prstGeom>
          <a:noFill/>
          <a:ln/>
        </p:spPr>
        <p:txBody>
          <a:bodyPr wrap="square" lIns="0" tIns="0" rIns="0" bIns="0" rtlCol="0" anchor="t"/>
          <a:lstStyle/>
          <a:p>
            <a:pPr algn="ctr" indent="0" marL="0">
              <a:buNone/>
            </a:pPr>
            <a:r>
              <a:rPr lang="en-US" sz="2200" b="1" dirty="0">
                <a:solidFill>
                  <a:srgbClr val="FFFFFF"/>
                </a:solidFill>
              </a:rPr>
              <a:t>23 Apr</a:t>
            </a:r>
            <a:endParaRPr lang="en-US" sz="2200" dirty="0"/>
          </a:p>
        </p:txBody>
      </p:sp>
      <p:sp>
        <p:nvSpPr>
          <p:cNvPr id="34" name="Text 32"/>
          <p:cNvSpPr txBox="1"/>
          <p:nvPr/>
        </p:nvSpPr>
        <p:spPr>
          <a:xfrm>
            <a:off x="5074920" y="2514600"/>
            <a:ext cx="2103120" cy="320040"/>
          </a:xfrm>
          <a:prstGeom prst="rect">
            <a:avLst/>
          </a:prstGeom>
          <a:noFill/>
          <a:ln/>
        </p:spPr>
        <p:txBody>
          <a:bodyPr wrap="square" lIns="0" tIns="0" rIns="0" bIns="0" rtlCol="0" anchor="t"/>
          <a:lstStyle/>
          <a:p>
            <a:pPr algn="ctr" indent="0" marL="0">
              <a:buNone/>
            </a:pPr>
            <a:r>
              <a:rPr lang="en-US" sz="1400" dirty="0">
                <a:solidFill>
                  <a:srgbClr val="9FB0C8"/>
                </a:solidFill>
              </a:rPr>
              <a:t>2025</a:t>
            </a:r>
            <a:endParaRPr lang="en-US" sz="1400" dirty="0"/>
          </a:p>
        </p:txBody>
      </p:sp>
      <p:sp>
        <p:nvSpPr>
          <p:cNvPr id="35" name="Text 33"/>
          <p:cNvSpPr txBox="1"/>
          <p:nvPr/>
        </p:nvSpPr>
        <p:spPr>
          <a:xfrm>
            <a:off x="5120640" y="3657600"/>
            <a:ext cx="2011680" cy="2011680"/>
          </a:xfrm>
          <a:prstGeom prst="rect">
            <a:avLst/>
          </a:prstGeom>
          <a:noFill/>
          <a:ln/>
        </p:spPr>
        <p:txBody>
          <a:bodyPr wrap="square" lIns="0" tIns="0" rIns="0" bIns="0" rtlCol="0" anchor="t"/>
          <a:lstStyle/>
          <a:p>
            <a:pPr algn="ctr" indent="0" marL="0">
              <a:buNone/>
            </a:pPr>
            <a:r>
              <a:rPr lang="en-US" sz="1500" dirty="0">
                <a:solidFill>
                  <a:srgbClr val="FFFFFF"/>
                </a:solidFill>
              </a:rPr>
              <a:t>Contactless and Click &amp; Collect paused; some processes moved offline</a:t>
            </a:r>
            <a:endParaRPr lang="en-US" sz="1500" dirty="0"/>
          </a:p>
        </p:txBody>
      </p:sp>
      <p:sp>
        <p:nvSpPr>
          <p:cNvPr id="36" name="Node 4"/>
          <p:cNvSpPr/>
          <p:nvPr/>
        </p:nvSpPr>
        <p:spPr>
          <a:xfrm>
            <a:off x="8275320" y="3063240"/>
            <a:ext cx="365760" cy="365760"/>
          </a:xfrm>
          <a:prstGeom prst="ellipse">
            <a:avLst/>
          </a:prstGeom>
          <a:solidFill>
            <a:srgbClr val="FF5C6C"/>
          </a:solidFill>
          <a:ln w="12700">
            <a:solidFill>
              <a:srgbClr val="FF5C6C"/>
            </a:solidFill>
            <a:prstDash val="solid"/>
          </a:ln>
        </p:spPr>
      </p:sp>
      <p:sp>
        <p:nvSpPr>
          <p:cNvPr id="37" name="Chip CONFIRMED"/>
          <p:cNvSpPr/>
          <p:nvPr/>
        </p:nvSpPr>
        <p:spPr>
          <a:xfrm>
            <a:off x="7589520" y="1600200"/>
            <a:ext cx="1737360" cy="274320"/>
          </a:xfrm>
          <a:prstGeom prst="roundRect">
            <a:avLst>
              <a:gd name="adj" fmla="val 26667"/>
            </a:avLst>
          </a:prstGeom>
          <a:solidFill>
            <a:srgbClr val="FF5C6C"/>
          </a:solidFill>
          <a:ln w="12700">
            <a:solidFill>
              <a:srgbClr val="FF5C6C"/>
            </a:solidFill>
            <a:prstDash val="solid"/>
          </a:ln>
        </p:spPr>
      </p:sp>
      <p:sp>
        <p:nvSpPr>
          <p:cNvPr id="38" name="Text 36"/>
          <p:cNvSpPr txBox="1"/>
          <p:nvPr/>
        </p:nvSpPr>
        <p:spPr>
          <a:xfrm>
            <a:off x="7589520" y="1600200"/>
            <a:ext cx="1737360" cy="274320"/>
          </a:xfrm>
          <a:prstGeom prst="rect">
            <a:avLst/>
          </a:prstGeom>
          <a:noFill/>
          <a:ln/>
        </p:spPr>
        <p:txBody>
          <a:bodyPr wrap="square" lIns="0" tIns="0" rIns="0" bIns="0" rtlCol="0" anchor="ctr"/>
          <a:lstStyle/>
          <a:p>
            <a:pPr algn="ctr" indent="0" marL="0">
              <a:buNone/>
            </a:pPr>
            <a:r>
              <a:rPr lang="en-US" sz="1100" b="1" dirty="0">
                <a:solidFill>
                  <a:srgbClr val="02050D"/>
                </a:solidFill>
              </a:rPr>
              <a:t>CONFIRMED</a:t>
            </a:r>
            <a:endParaRPr lang="en-US" sz="1100" dirty="0"/>
          </a:p>
        </p:txBody>
      </p:sp>
      <p:sp>
        <p:nvSpPr>
          <p:cNvPr id="39" name="Text 37"/>
          <p:cNvSpPr txBox="1"/>
          <p:nvPr/>
        </p:nvSpPr>
        <p:spPr>
          <a:xfrm>
            <a:off x="7406640" y="2011680"/>
            <a:ext cx="2103120" cy="457200"/>
          </a:xfrm>
          <a:prstGeom prst="rect">
            <a:avLst/>
          </a:prstGeom>
          <a:noFill/>
          <a:ln/>
        </p:spPr>
        <p:txBody>
          <a:bodyPr wrap="square" lIns="0" tIns="0" rIns="0" bIns="0" rtlCol="0" anchor="t"/>
          <a:lstStyle/>
          <a:p>
            <a:pPr algn="ctr" indent="0" marL="0">
              <a:buNone/>
            </a:pPr>
            <a:r>
              <a:rPr lang="en-US" sz="2200" b="1" dirty="0">
                <a:solidFill>
                  <a:srgbClr val="FFFFFF"/>
                </a:solidFill>
              </a:rPr>
              <a:t>13 May</a:t>
            </a:r>
            <a:endParaRPr lang="en-US" sz="2200" dirty="0"/>
          </a:p>
        </p:txBody>
      </p:sp>
      <p:sp>
        <p:nvSpPr>
          <p:cNvPr id="40" name="Text 38"/>
          <p:cNvSpPr txBox="1"/>
          <p:nvPr/>
        </p:nvSpPr>
        <p:spPr>
          <a:xfrm>
            <a:off x="7406640" y="2514600"/>
            <a:ext cx="2103120" cy="320040"/>
          </a:xfrm>
          <a:prstGeom prst="rect">
            <a:avLst/>
          </a:prstGeom>
          <a:noFill/>
          <a:ln/>
        </p:spPr>
        <p:txBody>
          <a:bodyPr wrap="square" lIns="0" tIns="0" rIns="0" bIns="0" rtlCol="0" anchor="t"/>
          <a:lstStyle/>
          <a:p>
            <a:pPr algn="ctr" indent="0" marL="0">
              <a:buNone/>
            </a:pPr>
            <a:r>
              <a:rPr lang="en-US" sz="1400" dirty="0">
                <a:solidFill>
                  <a:srgbClr val="9FB0C8"/>
                </a:solidFill>
              </a:rPr>
              <a:t>2025</a:t>
            </a:r>
            <a:endParaRPr lang="en-US" sz="1400" dirty="0"/>
          </a:p>
        </p:txBody>
      </p:sp>
      <p:sp>
        <p:nvSpPr>
          <p:cNvPr id="41" name="Text 39"/>
          <p:cNvSpPr txBox="1"/>
          <p:nvPr/>
        </p:nvSpPr>
        <p:spPr>
          <a:xfrm>
            <a:off x="7452360" y="3657600"/>
            <a:ext cx="2011680" cy="2011680"/>
          </a:xfrm>
          <a:prstGeom prst="rect">
            <a:avLst/>
          </a:prstGeom>
          <a:noFill/>
          <a:ln/>
        </p:spPr>
        <p:txBody>
          <a:bodyPr wrap="square" lIns="0" tIns="0" rIns="0" bIns="0" rtlCol="0" anchor="t"/>
          <a:lstStyle/>
          <a:p>
            <a:pPr algn="ctr" indent="0" marL="0">
              <a:buNone/>
            </a:pPr>
            <a:r>
              <a:rPr lang="en-US" sz="1500" dirty="0">
                <a:solidFill>
                  <a:srgbClr val="FFFFFF"/>
                </a:solidFill>
              </a:rPr>
              <a:t>Some personal customer data confirmed taken</a:t>
            </a:r>
            <a:endParaRPr lang="en-US" sz="1500" dirty="0"/>
          </a:p>
        </p:txBody>
      </p:sp>
      <p:sp>
        <p:nvSpPr>
          <p:cNvPr id="42" name="Node 5"/>
          <p:cNvSpPr/>
          <p:nvPr/>
        </p:nvSpPr>
        <p:spPr>
          <a:xfrm>
            <a:off x="10607040" y="3063240"/>
            <a:ext cx="365760" cy="365760"/>
          </a:xfrm>
          <a:prstGeom prst="ellipse">
            <a:avLst/>
          </a:prstGeom>
          <a:solidFill>
            <a:srgbClr val="FF5C6C"/>
          </a:solidFill>
          <a:ln w="12700">
            <a:solidFill>
              <a:srgbClr val="FF5C6C"/>
            </a:solidFill>
            <a:prstDash val="solid"/>
          </a:ln>
        </p:spPr>
      </p:sp>
      <p:sp>
        <p:nvSpPr>
          <p:cNvPr id="43" name="Chip CONFIRMED"/>
          <p:cNvSpPr/>
          <p:nvPr/>
        </p:nvSpPr>
        <p:spPr>
          <a:xfrm>
            <a:off x="9921240" y="1600200"/>
            <a:ext cx="1737360" cy="274320"/>
          </a:xfrm>
          <a:prstGeom prst="roundRect">
            <a:avLst>
              <a:gd name="adj" fmla="val 26667"/>
            </a:avLst>
          </a:prstGeom>
          <a:solidFill>
            <a:srgbClr val="FF5C6C"/>
          </a:solidFill>
          <a:ln w="12700">
            <a:solidFill>
              <a:srgbClr val="FF5C6C"/>
            </a:solidFill>
            <a:prstDash val="solid"/>
          </a:ln>
        </p:spPr>
      </p:sp>
      <p:sp>
        <p:nvSpPr>
          <p:cNvPr id="44" name="Text 42"/>
          <p:cNvSpPr txBox="1"/>
          <p:nvPr/>
        </p:nvSpPr>
        <p:spPr>
          <a:xfrm>
            <a:off x="9921240" y="1600200"/>
            <a:ext cx="1737360" cy="274320"/>
          </a:xfrm>
          <a:prstGeom prst="rect">
            <a:avLst/>
          </a:prstGeom>
          <a:noFill/>
          <a:ln/>
        </p:spPr>
        <p:txBody>
          <a:bodyPr wrap="square" lIns="0" tIns="0" rIns="0" bIns="0" rtlCol="0" anchor="ctr"/>
          <a:lstStyle/>
          <a:p>
            <a:pPr algn="ctr" indent="0" marL="0">
              <a:buNone/>
            </a:pPr>
            <a:r>
              <a:rPr lang="en-US" sz="1100" b="1" dirty="0">
                <a:solidFill>
                  <a:srgbClr val="02050D"/>
                </a:solidFill>
              </a:rPr>
              <a:t>CONFIRMED</a:t>
            </a:r>
            <a:endParaRPr lang="en-US" sz="1100" dirty="0"/>
          </a:p>
        </p:txBody>
      </p:sp>
      <p:sp>
        <p:nvSpPr>
          <p:cNvPr id="45" name="Text 43"/>
          <p:cNvSpPr txBox="1"/>
          <p:nvPr/>
        </p:nvSpPr>
        <p:spPr>
          <a:xfrm>
            <a:off x="9738360" y="2011680"/>
            <a:ext cx="2103120" cy="457200"/>
          </a:xfrm>
          <a:prstGeom prst="rect">
            <a:avLst/>
          </a:prstGeom>
          <a:noFill/>
          <a:ln/>
        </p:spPr>
        <p:txBody>
          <a:bodyPr wrap="square" lIns="0" tIns="0" rIns="0" bIns="0" rtlCol="0" anchor="t"/>
          <a:lstStyle/>
          <a:p>
            <a:pPr algn="ctr" indent="0" marL="0">
              <a:buNone/>
            </a:pPr>
            <a:r>
              <a:rPr lang="en-US" sz="2200" b="1" dirty="0">
                <a:solidFill>
                  <a:srgbClr val="FFFFFF"/>
                </a:solidFill>
              </a:rPr>
              <a:t>21 May</a:t>
            </a:r>
            <a:endParaRPr lang="en-US" sz="2200" dirty="0"/>
          </a:p>
        </p:txBody>
      </p:sp>
      <p:sp>
        <p:nvSpPr>
          <p:cNvPr id="46" name="Text 44"/>
          <p:cNvSpPr txBox="1"/>
          <p:nvPr/>
        </p:nvSpPr>
        <p:spPr>
          <a:xfrm>
            <a:off x="9738360" y="2514600"/>
            <a:ext cx="2103120" cy="320040"/>
          </a:xfrm>
          <a:prstGeom prst="rect">
            <a:avLst/>
          </a:prstGeom>
          <a:noFill/>
          <a:ln/>
        </p:spPr>
        <p:txBody>
          <a:bodyPr wrap="square" lIns="0" tIns="0" rIns="0" bIns="0" rtlCol="0" anchor="t"/>
          <a:lstStyle/>
          <a:p>
            <a:pPr algn="ctr" indent="0" marL="0">
              <a:buNone/>
            </a:pPr>
            <a:r>
              <a:rPr lang="en-US" sz="1400" dirty="0">
                <a:solidFill>
                  <a:srgbClr val="9FB0C8"/>
                </a:solidFill>
              </a:rPr>
              <a:t>2025</a:t>
            </a:r>
            <a:endParaRPr lang="en-US" sz="1400" dirty="0"/>
          </a:p>
        </p:txBody>
      </p:sp>
      <p:sp>
        <p:nvSpPr>
          <p:cNvPr id="47" name="Text 45"/>
          <p:cNvSpPr txBox="1"/>
          <p:nvPr/>
        </p:nvSpPr>
        <p:spPr>
          <a:xfrm>
            <a:off x="9784080" y="3657600"/>
            <a:ext cx="2011680" cy="2011680"/>
          </a:xfrm>
          <a:prstGeom prst="rect">
            <a:avLst/>
          </a:prstGeom>
          <a:noFill/>
          <a:ln/>
        </p:spPr>
        <p:txBody>
          <a:bodyPr wrap="square" lIns="0" tIns="0" rIns="0" bIns="0" rtlCol="0" anchor="t"/>
          <a:lstStyle/>
          <a:p>
            <a:pPr algn="ctr" indent="0" marL="0">
              <a:buNone/>
            </a:pPr>
            <a:r>
              <a:rPr lang="en-US" sz="1500" dirty="0">
                <a:solidFill>
                  <a:srgbClr val="FFFFFF"/>
                </a:solidFill>
              </a:rPr>
              <a:t>CEO explains entry route; online sales unlikely fully restored until July</a:t>
            </a:r>
            <a:endParaRPr lang="en-US" sz="1500" dirty="0"/>
          </a:p>
        </p:txBody>
      </p:sp>
      <p:sp>
        <p:nvSpPr>
          <p:cNvPr id="48" name="Text 46"/>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M&amp;S newsroom 23 Apr 2025; M&amp;S RNS 13 May 2025; Reuters 21 May 2025</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Trust: attackers targeted people, not systems</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22D3EE"/>
          </a:solidFill>
          <a:ln w="12700">
            <a:solidFill>
              <a:srgbClr val="22D3EE"/>
            </a:solidFill>
            <a:prstDash val="solid"/>
          </a:ln>
        </p:spPr>
      </p:sp>
      <p:sp>
        <p:nvSpPr>
          <p:cNvPr id="7" name="Progress 5"/>
          <p:cNvSpPr/>
          <p:nvPr/>
        </p:nvSpPr>
        <p:spPr>
          <a:xfrm>
            <a:off x="4251960" y="6729984"/>
            <a:ext cx="880110" cy="45720"/>
          </a:xfrm>
          <a:prstGeom prst="rect">
            <a:avLst/>
          </a:prstGeom>
          <a:solidFill>
            <a:srgbClr val="0B1B30"/>
          </a:solidFill>
          <a:ln w="12700">
            <a:solidFill>
              <a:srgbClr val="0B1B30"/>
            </a:solidFill>
            <a:prstDash val="solid"/>
          </a:ln>
        </p:spPr>
      </p:sp>
      <p:sp>
        <p:nvSpPr>
          <p:cNvPr id="8" name="Progress 6"/>
          <p:cNvSpPr/>
          <p:nvPr/>
        </p:nvSpPr>
        <p:spPr>
          <a:xfrm>
            <a:off x="5177790" y="6729984"/>
            <a:ext cx="880110" cy="45720"/>
          </a:xfrm>
          <a:prstGeom prst="rect">
            <a:avLst/>
          </a:prstGeom>
          <a:solidFill>
            <a:srgbClr val="0B1B30"/>
          </a:solidFill>
          <a:ln w="12700">
            <a:solidFill>
              <a:srgbClr val="0B1B30"/>
            </a:solidFill>
            <a:prstDash val="solid"/>
          </a:ln>
        </p:spPr>
      </p:sp>
      <p:sp>
        <p:nvSpPr>
          <p:cNvPr id="9" name="Progress 7"/>
          <p:cNvSpPr/>
          <p:nvPr/>
        </p:nvSpPr>
        <p:spPr>
          <a:xfrm>
            <a:off x="6103620" y="6729984"/>
            <a:ext cx="880110" cy="45720"/>
          </a:xfrm>
          <a:prstGeom prst="rect">
            <a:avLst/>
          </a:prstGeom>
          <a:solidFill>
            <a:srgbClr val="0B1B30"/>
          </a:solidFill>
          <a:ln w="12700">
            <a:solidFill>
              <a:srgbClr val="0B1B30"/>
            </a:solidFill>
            <a:prstDash val="solid"/>
          </a:ln>
        </p:spPr>
      </p:sp>
      <p:sp>
        <p:nvSpPr>
          <p:cNvPr id="10" name="Progress 8"/>
          <p:cNvSpPr/>
          <p:nvPr/>
        </p:nvSpPr>
        <p:spPr>
          <a:xfrm>
            <a:off x="7029450" y="6729984"/>
            <a:ext cx="880110" cy="45720"/>
          </a:xfrm>
          <a:prstGeom prst="rect">
            <a:avLst/>
          </a:prstGeom>
          <a:solidFill>
            <a:srgbClr val="0B1B30"/>
          </a:solidFill>
          <a:ln w="12700">
            <a:solidFill>
              <a:srgbClr val="0B1B30"/>
            </a:solidFill>
            <a:prstDash val="solid"/>
          </a:ln>
        </p:spPr>
      </p:sp>
      <p:sp>
        <p:nvSpPr>
          <p:cNvPr id="11" name="Progress 9"/>
          <p:cNvSpPr/>
          <p:nvPr/>
        </p:nvSpPr>
        <p:spPr>
          <a:xfrm>
            <a:off x="7955280" y="6729984"/>
            <a:ext cx="880110" cy="45720"/>
          </a:xfrm>
          <a:prstGeom prst="rect">
            <a:avLst/>
          </a:prstGeom>
          <a:solidFill>
            <a:srgbClr val="0B1B30"/>
          </a:solidFill>
          <a:ln w="12700">
            <a:solidFill>
              <a:srgbClr val="0B1B30"/>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4 / 12  |  TRUST"/>
          <p:cNvSpPr/>
          <p:nvPr/>
        </p:nvSpPr>
        <p:spPr>
          <a:xfrm>
            <a:off x="8229600" y="6336792"/>
            <a:ext cx="2377440" cy="274320"/>
          </a:xfrm>
          <a:prstGeom prst="roundRect">
            <a:avLst>
              <a:gd name="adj" fmla="val 26667"/>
            </a:avLst>
          </a:prstGeom>
          <a:solidFill>
            <a:srgbClr val="FBBF24"/>
          </a:solidFill>
          <a:ln w="12700">
            <a:solidFill>
              <a:srgbClr val="FBBF24"/>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4 / 12  |  TRUST</a:t>
            </a:r>
            <a:endParaRPr lang="en-US" sz="1100" dirty="0"/>
          </a:p>
        </p:txBody>
      </p:sp>
      <p:sp>
        <p:nvSpPr>
          <p:cNvPr id="17" name="Confirmed card"/>
          <p:cNvSpPr/>
          <p:nvPr/>
        </p:nvSpPr>
        <p:spPr>
          <a:xfrm>
            <a:off x="548640" y="1463040"/>
            <a:ext cx="5440680" cy="3566160"/>
          </a:xfrm>
          <a:prstGeom prst="roundRect">
            <a:avLst>
              <a:gd name="adj" fmla="val 3077"/>
            </a:avLst>
          </a:prstGeom>
          <a:solidFill>
            <a:srgbClr val="081525"/>
          </a:solidFill>
          <a:ln w="12700">
            <a:solidFill>
              <a:srgbClr val="1C4566"/>
            </a:solidFill>
            <a:prstDash val="solid"/>
          </a:ln>
        </p:spPr>
      </p:sp>
      <p:sp>
        <p:nvSpPr>
          <p:cNvPr id="18" name="Reported card"/>
          <p:cNvSpPr/>
          <p:nvPr/>
        </p:nvSpPr>
        <p:spPr>
          <a:xfrm>
            <a:off x="6217920" y="1463040"/>
            <a:ext cx="5440680" cy="3566160"/>
          </a:xfrm>
          <a:prstGeom prst="roundRect">
            <a:avLst>
              <a:gd name="adj" fmla="val 3077"/>
            </a:avLst>
          </a:prstGeom>
          <a:solidFill>
            <a:srgbClr val="081525"/>
          </a:solidFill>
          <a:ln w="12700">
            <a:solidFill>
              <a:srgbClr val="1C4566"/>
            </a:solidFill>
            <a:prstDash val="solid"/>
          </a:ln>
        </p:spPr>
      </p:sp>
      <p:sp>
        <p:nvSpPr>
          <p:cNvPr id="19" name="Chip CONFIRMED BY M&amp;S"/>
          <p:cNvSpPr/>
          <p:nvPr/>
        </p:nvSpPr>
        <p:spPr>
          <a:xfrm>
            <a:off x="868680" y="1783080"/>
            <a:ext cx="1645920" cy="274320"/>
          </a:xfrm>
          <a:prstGeom prst="roundRect">
            <a:avLst>
              <a:gd name="adj" fmla="val 26667"/>
            </a:avLst>
          </a:prstGeom>
          <a:solidFill>
            <a:srgbClr val="34D399"/>
          </a:solidFill>
          <a:ln w="12700">
            <a:solidFill>
              <a:srgbClr val="34D399"/>
            </a:solidFill>
            <a:prstDash val="solid"/>
          </a:ln>
        </p:spPr>
      </p:sp>
      <p:sp>
        <p:nvSpPr>
          <p:cNvPr id="20" name="Text 18"/>
          <p:cNvSpPr txBox="1"/>
          <p:nvPr/>
        </p:nvSpPr>
        <p:spPr>
          <a:xfrm>
            <a:off x="868680" y="1783080"/>
            <a:ext cx="1645920" cy="274320"/>
          </a:xfrm>
          <a:prstGeom prst="rect">
            <a:avLst/>
          </a:prstGeom>
          <a:noFill/>
          <a:ln/>
        </p:spPr>
        <p:txBody>
          <a:bodyPr wrap="square" lIns="0" tIns="0" rIns="0" bIns="0" rtlCol="0" anchor="ctr"/>
          <a:lstStyle/>
          <a:p>
            <a:pPr algn="ctr" indent="0" marL="0">
              <a:buNone/>
            </a:pPr>
            <a:r>
              <a:rPr lang="en-US" sz="1100" b="1" dirty="0">
                <a:solidFill>
                  <a:srgbClr val="02050D"/>
                </a:solidFill>
              </a:rPr>
              <a:t>CONFIRMED BY M&amp;S</a:t>
            </a:r>
            <a:endParaRPr lang="en-US" sz="1100" dirty="0"/>
          </a:p>
        </p:txBody>
      </p:sp>
      <p:sp>
        <p:nvSpPr>
          <p:cNvPr id="21" name="Chip REPORTED / UNCONFIRMED"/>
          <p:cNvSpPr/>
          <p:nvPr/>
        </p:nvSpPr>
        <p:spPr>
          <a:xfrm>
            <a:off x="6537960" y="1783080"/>
            <a:ext cx="2103120" cy="274320"/>
          </a:xfrm>
          <a:prstGeom prst="roundRect">
            <a:avLst>
              <a:gd name="adj" fmla="val 26667"/>
            </a:avLst>
          </a:prstGeom>
          <a:solidFill>
            <a:srgbClr val="FBBF24"/>
          </a:solidFill>
          <a:ln w="12700">
            <a:solidFill>
              <a:srgbClr val="FBBF24"/>
            </a:solidFill>
            <a:prstDash val="solid"/>
          </a:ln>
        </p:spPr>
      </p:sp>
      <p:sp>
        <p:nvSpPr>
          <p:cNvPr id="22" name="Text 20"/>
          <p:cNvSpPr txBox="1"/>
          <p:nvPr/>
        </p:nvSpPr>
        <p:spPr>
          <a:xfrm>
            <a:off x="6537960" y="1783080"/>
            <a:ext cx="2103120" cy="274320"/>
          </a:xfrm>
          <a:prstGeom prst="rect">
            <a:avLst/>
          </a:prstGeom>
          <a:noFill/>
          <a:ln/>
        </p:spPr>
        <p:txBody>
          <a:bodyPr wrap="square" lIns="0" tIns="0" rIns="0" bIns="0" rtlCol="0" anchor="ctr"/>
          <a:lstStyle/>
          <a:p>
            <a:pPr algn="ctr" indent="0" marL="0">
              <a:buNone/>
            </a:pPr>
            <a:r>
              <a:rPr lang="en-US" sz="1100" b="1" dirty="0">
                <a:solidFill>
                  <a:srgbClr val="02050D"/>
                </a:solidFill>
              </a:rPr>
              <a:t>REPORTED / UNCONFIRMED</a:t>
            </a:r>
            <a:endParaRPr lang="en-US" sz="1100" dirty="0"/>
          </a:p>
        </p:txBody>
      </p:sp>
      <p:sp>
        <p:nvSpPr>
          <p:cNvPr id="23" name="Text 21"/>
          <p:cNvSpPr txBox="1"/>
          <p:nvPr/>
        </p:nvSpPr>
        <p:spPr>
          <a:xfrm>
            <a:off x="868680" y="2331720"/>
            <a:ext cx="4800600" cy="32004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FFFFFF"/>
                </a:solidFill>
              </a:rPr>
              <a:t>Attackers used social engineering</a:t>
            </a:r>
            <a:endParaRPr lang="en-US" sz="1800" dirty="0"/>
          </a:p>
          <a:p>
            <a:pPr marL="342900" indent="-342900">
              <a:spcAft>
                <a:spcPts val="800"/>
              </a:spcAft>
              <a:buSzPct val="100000"/>
              <a:buChar char="•"/>
            </a:pPr>
            <a:r>
              <a:rPr lang="en-US" sz="1800" dirty="0">
                <a:solidFill>
                  <a:srgbClr val="FFFFFF"/>
                </a:solidFill>
              </a:rPr>
              <a:t>Entry was through a third party, not a system weakness</a:t>
            </a:r>
            <a:endParaRPr lang="en-US" sz="1800" dirty="0"/>
          </a:p>
          <a:p>
            <a:pPr marL="342900" indent="-342900">
              <a:spcAft>
                <a:spcPts val="800"/>
              </a:spcAft>
              <a:buSzPct val="100000"/>
              <a:buChar char="•"/>
            </a:pPr>
            <a:r>
              <a:rPr lang="en-US" sz="1800" dirty="0">
                <a:solidFill>
                  <a:srgbClr val="FFFFFF"/>
                </a:solidFill>
              </a:rPr>
              <a:t>Suspicious activity was spotted over Easter weekend</a:t>
            </a:r>
            <a:endParaRPr lang="en-US" sz="1800" dirty="0"/>
          </a:p>
        </p:txBody>
      </p:sp>
      <p:sp>
        <p:nvSpPr>
          <p:cNvPr id="24" name="Text 22"/>
          <p:cNvSpPr txBox="1"/>
          <p:nvPr/>
        </p:nvSpPr>
        <p:spPr>
          <a:xfrm>
            <a:off x="6537960" y="2331720"/>
            <a:ext cx="484632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rPr>
              <a:t>Unnamed source: an IT contractor was a means of access; the contractor declined to comment</a:t>
            </a:r>
            <a:endParaRPr lang="en-US" sz="1600" dirty="0"/>
          </a:p>
          <a:p>
            <a:pPr marL="342900" indent="-342900">
              <a:spcAft>
                <a:spcPts val="800"/>
              </a:spcAft>
              <a:buSzPct val="100000"/>
              <a:buChar char="•"/>
            </a:pPr>
            <a:r>
              <a:rPr lang="en-US" sz="1600" dirty="0">
                <a:solidFill>
                  <a:srgbClr val="FFFFFF"/>
                </a:solidFill>
              </a:rPr>
              <a:t>Media: attackers impersonated staff to get password and MFA resets from a service desk</a:t>
            </a:r>
            <a:endParaRPr lang="en-US" sz="1600" dirty="0"/>
          </a:p>
          <a:p>
            <a:pPr marL="342900" indent="-342900">
              <a:spcAft>
                <a:spcPts val="800"/>
              </a:spcAft>
              <a:buSzPct val="100000"/>
              <a:buChar char="•"/>
            </a:pPr>
            <a:r>
              <a:rPr lang="en-US" sz="1600" dirty="0">
                <a:solidFill>
                  <a:srgbClr val="FFFFFF"/>
                </a:solidFill>
              </a:rPr>
              <a:t>Attacker identity: not confirmed by M&amp;S</a:t>
            </a:r>
            <a:endParaRPr lang="en-US" sz="1600" dirty="0"/>
          </a:p>
        </p:txBody>
      </p:sp>
      <p:sp>
        <p:nvSpPr>
          <p:cNvPr id="25" name="Text 23"/>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Reuters 21 May 2025; ManageEngine (citing BleepingComputer)</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Access: one identity can open many doors</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7" name="Progress 5"/>
          <p:cNvSpPr/>
          <p:nvPr/>
        </p:nvSpPr>
        <p:spPr>
          <a:xfrm>
            <a:off x="4251960" y="6729984"/>
            <a:ext cx="880110" cy="45720"/>
          </a:xfrm>
          <a:prstGeom prst="rect">
            <a:avLst/>
          </a:prstGeom>
          <a:solidFill>
            <a:srgbClr val="22D3EE"/>
          </a:solidFill>
          <a:ln w="12700">
            <a:solidFill>
              <a:srgbClr val="22D3EE"/>
            </a:solidFill>
            <a:prstDash val="solid"/>
          </a:ln>
        </p:spPr>
      </p:sp>
      <p:sp>
        <p:nvSpPr>
          <p:cNvPr id="8" name="Progress 6"/>
          <p:cNvSpPr/>
          <p:nvPr/>
        </p:nvSpPr>
        <p:spPr>
          <a:xfrm>
            <a:off x="5177790" y="6729984"/>
            <a:ext cx="880110" cy="45720"/>
          </a:xfrm>
          <a:prstGeom prst="rect">
            <a:avLst/>
          </a:prstGeom>
          <a:solidFill>
            <a:srgbClr val="0B1B30"/>
          </a:solidFill>
          <a:ln w="12700">
            <a:solidFill>
              <a:srgbClr val="0B1B30"/>
            </a:solidFill>
            <a:prstDash val="solid"/>
          </a:ln>
        </p:spPr>
      </p:sp>
      <p:sp>
        <p:nvSpPr>
          <p:cNvPr id="9" name="Progress 7"/>
          <p:cNvSpPr/>
          <p:nvPr/>
        </p:nvSpPr>
        <p:spPr>
          <a:xfrm>
            <a:off x="6103620" y="6729984"/>
            <a:ext cx="880110" cy="45720"/>
          </a:xfrm>
          <a:prstGeom prst="rect">
            <a:avLst/>
          </a:prstGeom>
          <a:solidFill>
            <a:srgbClr val="0B1B30"/>
          </a:solidFill>
          <a:ln w="12700">
            <a:solidFill>
              <a:srgbClr val="0B1B30"/>
            </a:solidFill>
            <a:prstDash val="solid"/>
          </a:ln>
        </p:spPr>
      </p:sp>
      <p:sp>
        <p:nvSpPr>
          <p:cNvPr id="10" name="Progress 8"/>
          <p:cNvSpPr/>
          <p:nvPr/>
        </p:nvSpPr>
        <p:spPr>
          <a:xfrm>
            <a:off x="7029450" y="6729984"/>
            <a:ext cx="880110" cy="45720"/>
          </a:xfrm>
          <a:prstGeom prst="rect">
            <a:avLst/>
          </a:prstGeom>
          <a:solidFill>
            <a:srgbClr val="0B1B30"/>
          </a:solidFill>
          <a:ln w="12700">
            <a:solidFill>
              <a:srgbClr val="0B1B30"/>
            </a:solidFill>
            <a:prstDash val="solid"/>
          </a:ln>
        </p:spPr>
      </p:sp>
      <p:sp>
        <p:nvSpPr>
          <p:cNvPr id="11" name="Progress 9"/>
          <p:cNvSpPr/>
          <p:nvPr/>
        </p:nvSpPr>
        <p:spPr>
          <a:xfrm>
            <a:off x="7955280" y="6729984"/>
            <a:ext cx="880110" cy="45720"/>
          </a:xfrm>
          <a:prstGeom prst="rect">
            <a:avLst/>
          </a:prstGeom>
          <a:solidFill>
            <a:srgbClr val="0B1B30"/>
          </a:solidFill>
          <a:ln w="12700">
            <a:solidFill>
              <a:srgbClr val="0B1B30"/>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5 / 12  |  ACCESS"/>
          <p:cNvSpPr/>
          <p:nvPr/>
        </p:nvSpPr>
        <p:spPr>
          <a:xfrm>
            <a:off x="8229600" y="6336792"/>
            <a:ext cx="2377440" cy="274320"/>
          </a:xfrm>
          <a:prstGeom prst="roundRect">
            <a:avLst>
              <a:gd name="adj" fmla="val 26667"/>
            </a:avLst>
          </a:prstGeom>
          <a:solidFill>
            <a:srgbClr val="22D3EE"/>
          </a:solidFill>
          <a:ln w="12700">
            <a:solidFill>
              <a:srgbClr val="22D3EE"/>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5 / 12  |  ACCESS</a:t>
            </a:r>
            <a:endParaRPr lang="en-US" sz="1100" dirty="0"/>
          </a:p>
        </p:txBody>
      </p:sp>
      <p:sp>
        <p:nvSpPr>
          <p:cNvPr id="17" name="Stage 1"/>
          <p:cNvSpPr/>
          <p:nvPr/>
        </p:nvSpPr>
        <p:spPr>
          <a:xfrm>
            <a:off x="548640" y="1463040"/>
            <a:ext cx="2514600" cy="3246120"/>
          </a:xfrm>
          <a:prstGeom prst="roundRect">
            <a:avLst>
              <a:gd name="adj" fmla="val 4364"/>
            </a:avLst>
          </a:prstGeom>
          <a:solidFill>
            <a:srgbClr val="081525"/>
          </a:solidFill>
          <a:ln w="12700">
            <a:solidFill>
              <a:srgbClr val="1C4566"/>
            </a:solidFill>
            <a:prstDash val="solid"/>
          </a:ln>
        </p:spPr>
      </p:sp>
      <p:sp>
        <p:nvSpPr>
          <p:cNvPr id="18" name="Stage icon 1"/>
          <p:cNvSpPr/>
          <p:nvPr/>
        </p:nvSpPr>
        <p:spPr>
          <a:xfrm>
            <a:off x="822960" y="1691640"/>
            <a:ext cx="640080" cy="640080"/>
          </a:xfrm>
          <a:prstGeom prst="ellipse">
            <a:avLst/>
          </a:prstGeom>
          <a:solidFill>
            <a:srgbClr val="34D399"/>
          </a:solidFill>
          <a:ln w="12700">
            <a:solidFill>
              <a:srgbClr val="34D399"/>
            </a:solidFill>
            <a:prstDash val="solid"/>
          </a:ln>
        </p:spPr>
      </p:sp>
      <p:pic>
        <p:nvPicPr>
          <p:cNvPr id="19" name="Image 0" descr="Stage icon 1">    </p:cNvPr>
          <p:cNvPicPr>
            <a:picLocks noChangeAspect="1"/>
          </p:cNvPicPr>
          <p:nvPr/>
        </p:nvPicPr>
        <p:blipFill>
          <a:blip r:embed="rId1"/>
          <a:stretch>
            <a:fillRect/>
          </a:stretch>
        </p:blipFill>
        <p:spPr>
          <a:xfrm>
            <a:off x="1002182" y="1870862"/>
            <a:ext cx="281635" cy="281635"/>
          </a:xfrm>
          <a:prstGeom prst="rect">
            <a:avLst/>
          </a:prstGeom>
        </p:spPr>
      </p:pic>
      <p:sp>
        <p:nvSpPr>
          <p:cNvPr id="20" name="Chip CONFIRMED"/>
          <p:cNvSpPr/>
          <p:nvPr/>
        </p:nvSpPr>
        <p:spPr>
          <a:xfrm>
            <a:off x="822960" y="2514600"/>
            <a:ext cx="1280160" cy="274320"/>
          </a:xfrm>
          <a:prstGeom prst="roundRect">
            <a:avLst>
              <a:gd name="adj" fmla="val 26667"/>
            </a:avLst>
          </a:prstGeom>
          <a:solidFill>
            <a:srgbClr val="34D399"/>
          </a:solidFill>
          <a:ln w="12700">
            <a:solidFill>
              <a:srgbClr val="34D399"/>
            </a:solidFill>
            <a:prstDash val="solid"/>
          </a:ln>
        </p:spPr>
      </p:sp>
      <p:sp>
        <p:nvSpPr>
          <p:cNvPr id="21" name="Text 18"/>
          <p:cNvSpPr txBox="1"/>
          <p:nvPr/>
        </p:nvSpPr>
        <p:spPr>
          <a:xfrm>
            <a:off x="822960" y="2514600"/>
            <a:ext cx="1280160" cy="274320"/>
          </a:xfrm>
          <a:prstGeom prst="rect">
            <a:avLst/>
          </a:prstGeom>
          <a:noFill/>
          <a:ln/>
        </p:spPr>
        <p:txBody>
          <a:bodyPr wrap="square" lIns="0" tIns="0" rIns="0" bIns="0" rtlCol="0" anchor="ctr"/>
          <a:lstStyle/>
          <a:p>
            <a:pPr algn="ctr" indent="0" marL="0">
              <a:buNone/>
            </a:pPr>
            <a:r>
              <a:rPr lang="en-US" sz="1100" b="1" dirty="0">
                <a:solidFill>
                  <a:srgbClr val="02050D"/>
                </a:solidFill>
              </a:rPr>
              <a:t>CONFIRMED</a:t>
            </a:r>
            <a:endParaRPr lang="en-US" sz="1100" dirty="0"/>
          </a:p>
        </p:txBody>
      </p:sp>
      <p:sp>
        <p:nvSpPr>
          <p:cNvPr id="22" name="Text 19"/>
          <p:cNvSpPr txBox="1"/>
          <p:nvPr/>
        </p:nvSpPr>
        <p:spPr>
          <a:xfrm>
            <a:off x="822960" y="2880360"/>
            <a:ext cx="2011680" cy="640080"/>
          </a:xfrm>
          <a:prstGeom prst="rect">
            <a:avLst/>
          </a:prstGeom>
          <a:noFill/>
          <a:ln/>
        </p:spPr>
        <p:txBody>
          <a:bodyPr wrap="square" lIns="0" tIns="0" rIns="0" bIns="0" rtlCol="0" anchor="t"/>
          <a:lstStyle/>
          <a:p>
            <a:pPr indent="0" marL="0">
              <a:buNone/>
            </a:pPr>
            <a:r>
              <a:rPr lang="en-US" sz="1800" b="1" dirty="0">
                <a:solidFill>
                  <a:srgbClr val="FFFFFF"/>
                </a:solidFill>
              </a:rPr>
              <a:t>Social engineering</a:t>
            </a:r>
            <a:endParaRPr lang="en-US" sz="1800" dirty="0"/>
          </a:p>
        </p:txBody>
      </p:sp>
      <p:sp>
        <p:nvSpPr>
          <p:cNvPr id="23" name="Text 20"/>
          <p:cNvSpPr txBox="1"/>
          <p:nvPr/>
        </p:nvSpPr>
        <p:spPr>
          <a:xfrm>
            <a:off x="822960" y="3520440"/>
            <a:ext cx="2057400" cy="1143000"/>
          </a:xfrm>
          <a:prstGeom prst="rect">
            <a:avLst/>
          </a:prstGeom>
          <a:noFill/>
          <a:ln/>
        </p:spPr>
        <p:txBody>
          <a:bodyPr wrap="square" lIns="0" tIns="0" rIns="0" bIns="0" rtlCol="0" anchor="t"/>
          <a:lstStyle/>
          <a:p>
            <a:pPr indent="0" marL="0">
              <a:buNone/>
            </a:pPr>
            <a:r>
              <a:rPr lang="en-US" sz="1300" dirty="0">
                <a:solidFill>
                  <a:srgbClr val="9FB0C8"/>
                </a:solidFill>
              </a:rPr>
              <a:t>Employees at a third party were tricked</a:t>
            </a:r>
            <a:endParaRPr lang="en-US" sz="1300" dirty="0"/>
          </a:p>
        </p:txBody>
      </p:sp>
      <p:sp>
        <p:nvSpPr>
          <p:cNvPr id="24" name="Text 21"/>
          <p:cNvSpPr txBox="1"/>
          <p:nvPr/>
        </p:nvSpPr>
        <p:spPr>
          <a:xfrm>
            <a:off x="3063240" y="2651760"/>
            <a:ext cx="347472" cy="640080"/>
          </a:xfrm>
          <a:prstGeom prst="rect">
            <a:avLst/>
          </a:prstGeom>
          <a:noFill/>
          <a:ln/>
        </p:spPr>
        <p:txBody>
          <a:bodyPr wrap="square" lIns="0" tIns="0" rIns="0" bIns="0" rtlCol="0" anchor="ctr"/>
          <a:lstStyle/>
          <a:p>
            <a:pPr algn="ctr" indent="0" marL="0">
              <a:buNone/>
            </a:pPr>
            <a:r>
              <a:rPr lang="en-US" sz="3200" b="1" dirty="0">
                <a:solidFill>
                  <a:srgbClr val="22D3EE"/>
                </a:solidFill>
              </a:rPr>
              <a:t>›</a:t>
            </a:r>
            <a:endParaRPr lang="en-US" sz="3200" dirty="0"/>
          </a:p>
        </p:txBody>
      </p:sp>
      <p:sp>
        <p:nvSpPr>
          <p:cNvPr id="25" name="Stage 2"/>
          <p:cNvSpPr/>
          <p:nvPr/>
        </p:nvSpPr>
        <p:spPr>
          <a:xfrm>
            <a:off x="3410712" y="1463040"/>
            <a:ext cx="2514600" cy="3246120"/>
          </a:xfrm>
          <a:prstGeom prst="roundRect">
            <a:avLst>
              <a:gd name="adj" fmla="val 4364"/>
            </a:avLst>
          </a:prstGeom>
          <a:solidFill>
            <a:srgbClr val="081525"/>
          </a:solidFill>
          <a:ln w="12700">
            <a:solidFill>
              <a:srgbClr val="1C4566"/>
            </a:solidFill>
            <a:prstDash val="solid"/>
          </a:ln>
        </p:spPr>
      </p:sp>
      <p:sp>
        <p:nvSpPr>
          <p:cNvPr id="26" name="Stage icon 2"/>
          <p:cNvSpPr/>
          <p:nvPr/>
        </p:nvSpPr>
        <p:spPr>
          <a:xfrm>
            <a:off x="3685032" y="1691640"/>
            <a:ext cx="640080" cy="640080"/>
          </a:xfrm>
          <a:prstGeom prst="ellipse">
            <a:avLst/>
          </a:prstGeom>
          <a:solidFill>
            <a:srgbClr val="34D399"/>
          </a:solidFill>
          <a:ln w="12700">
            <a:solidFill>
              <a:srgbClr val="34D399"/>
            </a:solidFill>
            <a:prstDash val="solid"/>
          </a:ln>
        </p:spPr>
      </p:sp>
      <p:pic>
        <p:nvPicPr>
          <p:cNvPr id="27" name="Image 1" descr="Stage icon 2">    </p:cNvPr>
          <p:cNvPicPr>
            <a:picLocks noChangeAspect="1"/>
          </p:cNvPicPr>
          <p:nvPr/>
        </p:nvPicPr>
        <p:blipFill>
          <a:blip r:embed="rId2"/>
          <a:stretch>
            <a:fillRect/>
          </a:stretch>
        </p:blipFill>
        <p:spPr>
          <a:xfrm>
            <a:off x="3864254" y="1870862"/>
            <a:ext cx="281635" cy="281635"/>
          </a:xfrm>
          <a:prstGeom prst="rect">
            <a:avLst/>
          </a:prstGeom>
        </p:spPr>
      </p:pic>
      <p:sp>
        <p:nvSpPr>
          <p:cNvPr id="28" name="Chip CONFIRMED"/>
          <p:cNvSpPr/>
          <p:nvPr/>
        </p:nvSpPr>
        <p:spPr>
          <a:xfrm>
            <a:off x="3685032" y="2514600"/>
            <a:ext cx="1280160" cy="274320"/>
          </a:xfrm>
          <a:prstGeom prst="roundRect">
            <a:avLst>
              <a:gd name="adj" fmla="val 26667"/>
            </a:avLst>
          </a:prstGeom>
          <a:solidFill>
            <a:srgbClr val="34D399"/>
          </a:solidFill>
          <a:ln w="12700">
            <a:solidFill>
              <a:srgbClr val="34D399"/>
            </a:solidFill>
            <a:prstDash val="solid"/>
          </a:ln>
        </p:spPr>
      </p:sp>
      <p:sp>
        <p:nvSpPr>
          <p:cNvPr id="29" name="Text 25"/>
          <p:cNvSpPr txBox="1"/>
          <p:nvPr/>
        </p:nvSpPr>
        <p:spPr>
          <a:xfrm>
            <a:off x="3685032" y="2514600"/>
            <a:ext cx="1280160" cy="274320"/>
          </a:xfrm>
          <a:prstGeom prst="rect">
            <a:avLst/>
          </a:prstGeom>
          <a:noFill/>
          <a:ln/>
        </p:spPr>
        <p:txBody>
          <a:bodyPr wrap="square" lIns="0" tIns="0" rIns="0" bIns="0" rtlCol="0" anchor="ctr"/>
          <a:lstStyle/>
          <a:p>
            <a:pPr algn="ctr" indent="0" marL="0">
              <a:buNone/>
            </a:pPr>
            <a:r>
              <a:rPr lang="en-US" sz="1100" b="1" dirty="0">
                <a:solidFill>
                  <a:srgbClr val="02050D"/>
                </a:solidFill>
              </a:rPr>
              <a:t>CONFIRMED</a:t>
            </a:r>
            <a:endParaRPr lang="en-US" sz="1100" dirty="0"/>
          </a:p>
        </p:txBody>
      </p:sp>
      <p:sp>
        <p:nvSpPr>
          <p:cNvPr id="30" name="Text 26"/>
          <p:cNvSpPr txBox="1"/>
          <p:nvPr/>
        </p:nvSpPr>
        <p:spPr>
          <a:xfrm>
            <a:off x="3685032" y="2880360"/>
            <a:ext cx="2011680" cy="640080"/>
          </a:xfrm>
          <a:prstGeom prst="rect">
            <a:avLst/>
          </a:prstGeom>
          <a:noFill/>
          <a:ln/>
        </p:spPr>
        <p:txBody>
          <a:bodyPr wrap="square" lIns="0" tIns="0" rIns="0" bIns="0" rtlCol="0" anchor="t"/>
          <a:lstStyle/>
          <a:p>
            <a:pPr indent="0" marL="0">
              <a:buNone/>
            </a:pPr>
            <a:r>
              <a:rPr lang="en-US" sz="1800" b="1" dirty="0">
                <a:solidFill>
                  <a:srgbClr val="FFFFFF"/>
                </a:solidFill>
              </a:rPr>
              <a:t>Unauthorized access</a:t>
            </a:r>
            <a:endParaRPr lang="en-US" sz="1800" dirty="0"/>
          </a:p>
        </p:txBody>
      </p:sp>
      <p:sp>
        <p:nvSpPr>
          <p:cNvPr id="31" name="Text 27"/>
          <p:cNvSpPr txBox="1"/>
          <p:nvPr/>
        </p:nvSpPr>
        <p:spPr>
          <a:xfrm>
            <a:off x="3685032" y="3520440"/>
            <a:ext cx="2057400" cy="1143000"/>
          </a:xfrm>
          <a:prstGeom prst="rect">
            <a:avLst/>
          </a:prstGeom>
          <a:noFill/>
          <a:ln/>
        </p:spPr>
        <p:txBody>
          <a:bodyPr wrap="square" lIns="0" tIns="0" rIns="0" bIns="0" rtlCol="0" anchor="t"/>
          <a:lstStyle/>
          <a:p>
            <a:pPr indent="0" marL="0">
              <a:buNone/>
            </a:pPr>
            <a:r>
              <a:rPr lang="en-US" sz="1300" dirty="0">
                <a:solidFill>
                  <a:srgbClr val="9FB0C8"/>
                </a:solidFill>
              </a:rPr>
              <a:t>Attackers gained a foothold without breaking technical defences</a:t>
            </a:r>
            <a:endParaRPr lang="en-US" sz="1300" dirty="0"/>
          </a:p>
        </p:txBody>
      </p:sp>
      <p:sp>
        <p:nvSpPr>
          <p:cNvPr id="32" name="Text 28"/>
          <p:cNvSpPr txBox="1"/>
          <p:nvPr/>
        </p:nvSpPr>
        <p:spPr>
          <a:xfrm>
            <a:off x="5925312" y="2651760"/>
            <a:ext cx="347472" cy="640080"/>
          </a:xfrm>
          <a:prstGeom prst="rect">
            <a:avLst/>
          </a:prstGeom>
          <a:noFill/>
          <a:ln/>
        </p:spPr>
        <p:txBody>
          <a:bodyPr wrap="square" lIns="0" tIns="0" rIns="0" bIns="0" rtlCol="0" anchor="ctr"/>
          <a:lstStyle/>
          <a:p>
            <a:pPr algn="ctr" indent="0" marL="0">
              <a:buNone/>
            </a:pPr>
            <a:r>
              <a:rPr lang="en-US" sz="3200" b="1" dirty="0">
                <a:solidFill>
                  <a:srgbClr val="22D3EE"/>
                </a:solidFill>
              </a:rPr>
              <a:t>›</a:t>
            </a:r>
            <a:endParaRPr lang="en-US" sz="3200" dirty="0"/>
          </a:p>
        </p:txBody>
      </p:sp>
      <p:sp>
        <p:nvSpPr>
          <p:cNvPr id="33" name="Stage 3"/>
          <p:cNvSpPr/>
          <p:nvPr/>
        </p:nvSpPr>
        <p:spPr>
          <a:xfrm>
            <a:off x="6272784" y="1463040"/>
            <a:ext cx="2514600" cy="3246120"/>
          </a:xfrm>
          <a:prstGeom prst="roundRect">
            <a:avLst>
              <a:gd name="adj" fmla="val 4364"/>
            </a:avLst>
          </a:prstGeom>
          <a:solidFill>
            <a:srgbClr val="081525"/>
          </a:solidFill>
          <a:ln w="12700">
            <a:solidFill>
              <a:srgbClr val="1C4566"/>
            </a:solidFill>
            <a:prstDash val="solid"/>
          </a:ln>
        </p:spPr>
      </p:sp>
      <p:sp>
        <p:nvSpPr>
          <p:cNvPr id="34" name="Stage icon 3"/>
          <p:cNvSpPr/>
          <p:nvPr/>
        </p:nvSpPr>
        <p:spPr>
          <a:xfrm>
            <a:off x="6547104" y="1691640"/>
            <a:ext cx="640080" cy="640080"/>
          </a:xfrm>
          <a:prstGeom prst="ellipse">
            <a:avLst/>
          </a:prstGeom>
          <a:solidFill>
            <a:srgbClr val="FBBF24"/>
          </a:solidFill>
          <a:ln w="12700">
            <a:solidFill>
              <a:srgbClr val="FBBF24"/>
            </a:solidFill>
            <a:prstDash val="solid"/>
          </a:ln>
        </p:spPr>
      </p:sp>
      <p:pic>
        <p:nvPicPr>
          <p:cNvPr id="35" name="Image 2" descr="Stage icon 3">    </p:cNvPr>
          <p:cNvPicPr>
            <a:picLocks noChangeAspect="1"/>
          </p:cNvPicPr>
          <p:nvPr/>
        </p:nvPicPr>
        <p:blipFill>
          <a:blip r:embed="rId3"/>
          <a:stretch>
            <a:fillRect/>
          </a:stretch>
        </p:blipFill>
        <p:spPr>
          <a:xfrm>
            <a:off x="6726326" y="1870862"/>
            <a:ext cx="281635" cy="281635"/>
          </a:xfrm>
          <a:prstGeom prst="rect">
            <a:avLst/>
          </a:prstGeom>
        </p:spPr>
      </p:pic>
      <p:sp>
        <p:nvSpPr>
          <p:cNvPr id="36" name="Chip ANALYSIS"/>
          <p:cNvSpPr/>
          <p:nvPr/>
        </p:nvSpPr>
        <p:spPr>
          <a:xfrm>
            <a:off x="6547104" y="2514600"/>
            <a:ext cx="1280160" cy="274320"/>
          </a:xfrm>
          <a:prstGeom prst="roundRect">
            <a:avLst>
              <a:gd name="adj" fmla="val 26667"/>
            </a:avLst>
          </a:prstGeom>
          <a:solidFill>
            <a:srgbClr val="FBBF24"/>
          </a:solidFill>
          <a:ln w="12700">
            <a:solidFill>
              <a:srgbClr val="FBBF24"/>
            </a:solidFill>
            <a:prstDash val="solid"/>
          </a:ln>
        </p:spPr>
      </p:sp>
      <p:sp>
        <p:nvSpPr>
          <p:cNvPr id="37" name="Text 32"/>
          <p:cNvSpPr txBox="1"/>
          <p:nvPr/>
        </p:nvSpPr>
        <p:spPr>
          <a:xfrm>
            <a:off x="6547104" y="2514600"/>
            <a:ext cx="1280160" cy="274320"/>
          </a:xfrm>
          <a:prstGeom prst="rect">
            <a:avLst/>
          </a:prstGeom>
          <a:noFill/>
          <a:ln/>
        </p:spPr>
        <p:txBody>
          <a:bodyPr wrap="square" lIns="0" tIns="0" rIns="0" bIns="0" rtlCol="0" anchor="ctr"/>
          <a:lstStyle/>
          <a:p>
            <a:pPr algn="ctr" indent="0" marL="0">
              <a:buNone/>
            </a:pPr>
            <a:r>
              <a:rPr lang="en-US" sz="1100" b="1" dirty="0">
                <a:solidFill>
                  <a:srgbClr val="02050D"/>
                </a:solidFill>
              </a:rPr>
              <a:t>ANALYSIS</a:t>
            </a:r>
            <a:endParaRPr lang="en-US" sz="1100" dirty="0"/>
          </a:p>
        </p:txBody>
      </p:sp>
      <p:sp>
        <p:nvSpPr>
          <p:cNvPr id="38" name="Text 33"/>
          <p:cNvSpPr txBox="1"/>
          <p:nvPr/>
        </p:nvSpPr>
        <p:spPr>
          <a:xfrm>
            <a:off x="6547104" y="2880360"/>
            <a:ext cx="2011680" cy="640080"/>
          </a:xfrm>
          <a:prstGeom prst="rect">
            <a:avLst/>
          </a:prstGeom>
          <a:noFill/>
          <a:ln/>
        </p:spPr>
        <p:txBody>
          <a:bodyPr wrap="square" lIns="0" tIns="0" rIns="0" bIns="0" rtlCol="0" anchor="t"/>
          <a:lstStyle/>
          <a:p>
            <a:pPr indent="0" marL="0">
              <a:buNone/>
            </a:pPr>
            <a:r>
              <a:rPr lang="en-US" sz="1800" b="1" dirty="0">
                <a:solidFill>
                  <a:srgbClr val="FFFFFF"/>
                </a:solidFill>
              </a:rPr>
              <a:t>Privilege and identity risk</a:t>
            </a:r>
            <a:endParaRPr lang="en-US" sz="1800" dirty="0"/>
          </a:p>
        </p:txBody>
      </p:sp>
      <p:sp>
        <p:nvSpPr>
          <p:cNvPr id="39" name="Text 34"/>
          <p:cNvSpPr txBox="1"/>
          <p:nvPr/>
        </p:nvSpPr>
        <p:spPr>
          <a:xfrm>
            <a:off x="6547104" y="3520440"/>
            <a:ext cx="2057400" cy="1143000"/>
          </a:xfrm>
          <a:prstGeom prst="rect">
            <a:avLst/>
          </a:prstGeom>
          <a:noFill/>
          <a:ln/>
        </p:spPr>
        <p:txBody>
          <a:bodyPr wrap="square" lIns="0" tIns="0" rIns="0" bIns="0" rtlCol="0" anchor="t"/>
          <a:lstStyle/>
          <a:p>
            <a:pPr indent="0" marL="0">
              <a:buNone/>
            </a:pPr>
            <a:r>
              <a:rPr lang="en-US" sz="1300" dirty="0">
                <a:solidFill>
                  <a:srgbClr val="9FB0C8"/>
                </a:solidFill>
              </a:rPr>
              <a:t>Inferred: control of identity lets attackers widen their reach</a:t>
            </a:r>
            <a:endParaRPr lang="en-US" sz="1300" dirty="0"/>
          </a:p>
        </p:txBody>
      </p:sp>
      <p:sp>
        <p:nvSpPr>
          <p:cNvPr id="40" name="Text 35"/>
          <p:cNvSpPr txBox="1"/>
          <p:nvPr/>
        </p:nvSpPr>
        <p:spPr>
          <a:xfrm>
            <a:off x="8787384" y="2651760"/>
            <a:ext cx="347472" cy="640080"/>
          </a:xfrm>
          <a:prstGeom prst="rect">
            <a:avLst/>
          </a:prstGeom>
          <a:noFill/>
          <a:ln/>
        </p:spPr>
        <p:txBody>
          <a:bodyPr wrap="square" lIns="0" tIns="0" rIns="0" bIns="0" rtlCol="0" anchor="ctr"/>
          <a:lstStyle/>
          <a:p>
            <a:pPr algn="ctr" indent="0" marL="0">
              <a:buNone/>
            </a:pPr>
            <a:r>
              <a:rPr lang="en-US" sz="3200" b="1" dirty="0">
                <a:solidFill>
                  <a:srgbClr val="22D3EE"/>
                </a:solidFill>
              </a:rPr>
              <a:t>›</a:t>
            </a:r>
            <a:endParaRPr lang="en-US" sz="3200" dirty="0"/>
          </a:p>
        </p:txBody>
      </p:sp>
      <p:sp>
        <p:nvSpPr>
          <p:cNvPr id="41" name="Stage 4"/>
          <p:cNvSpPr/>
          <p:nvPr/>
        </p:nvSpPr>
        <p:spPr>
          <a:xfrm>
            <a:off x="9134856" y="1463040"/>
            <a:ext cx="2514600" cy="3246120"/>
          </a:xfrm>
          <a:prstGeom prst="roundRect">
            <a:avLst>
              <a:gd name="adj" fmla="val 4364"/>
            </a:avLst>
          </a:prstGeom>
          <a:solidFill>
            <a:srgbClr val="081525"/>
          </a:solidFill>
          <a:ln w="12700">
            <a:solidFill>
              <a:srgbClr val="1C4566"/>
            </a:solidFill>
            <a:prstDash val="solid"/>
          </a:ln>
        </p:spPr>
      </p:sp>
      <p:sp>
        <p:nvSpPr>
          <p:cNvPr id="42" name="Stage icon 4"/>
          <p:cNvSpPr/>
          <p:nvPr/>
        </p:nvSpPr>
        <p:spPr>
          <a:xfrm>
            <a:off x="9409176" y="1691640"/>
            <a:ext cx="640080" cy="640080"/>
          </a:xfrm>
          <a:prstGeom prst="ellipse">
            <a:avLst/>
          </a:prstGeom>
          <a:solidFill>
            <a:srgbClr val="22D3EE"/>
          </a:solidFill>
          <a:ln w="12700">
            <a:solidFill>
              <a:srgbClr val="22D3EE"/>
            </a:solidFill>
            <a:prstDash val="solid"/>
          </a:ln>
        </p:spPr>
      </p:sp>
      <p:pic>
        <p:nvPicPr>
          <p:cNvPr id="43" name="Image 3" descr="Stage icon 4">    </p:cNvPr>
          <p:cNvPicPr>
            <a:picLocks noChangeAspect="1"/>
          </p:cNvPicPr>
          <p:nvPr/>
        </p:nvPicPr>
        <p:blipFill>
          <a:blip r:embed="rId4"/>
          <a:stretch>
            <a:fillRect/>
          </a:stretch>
        </p:blipFill>
        <p:spPr>
          <a:xfrm>
            <a:off x="9588398" y="1870862"/>
            <a:ext cx="281635" cy="281635"/>
          </a:xfrm>
          <a:prstGeom prst="rect">
            <a:avLst/>
          </a:prstGeom>
        </p:spPr>
      </p:pic>
      <p:sp>
        <p:nvSpPr>
          <p:cNvPr id="44" name="Chip CONFIRMED + REPORTED"/>
          <p:cNvSpPr/>
          <p:nvPr/>
        </p:nvSpPr>
        <p:spPr>
          <a:xfrm>
            <a:off x="9409176" y="2514600"/>
            <a:ext cx="1965960" cy="274320"/>
          </a:xfrm>
          <a:prstGeom prst="roundRect">
            <a:avLst>
              <a:gd name="adj" fmla="val 26667"/>
            </a:avLst>
          </a:prstGeom>
          <a:solidFill>
            <a:srgbClr val="22D3EE"/>
          </a:solidFill>
          <a:ln w="12700">
            <a:solidFill>
              <a:srgbClr val="22D3EE"/>
            </a:solidFill>
            <a:prstDash val="solid"/>
          </a:ln>
        </p:spPr>
      </p:sp>
      <p:sp>
        <p:nvSpPr>
          <p:cNvPr id="45" name="Text 39"/>
          <p:cNvSpPr txBox="1"/>
          <p:nvPr/>
        </p:nvSpPr>
        <p:spPr>
          <a:xfrm>
            <a:off x="9409176" y="2514600"/>
            <a:ext cx="1965960" cy="274320"/>
          </a:xfrm>
          <a:prstGeom prst="rect">
            <a:avLst/>
          </a:prstGeom>
          <a:noFill/>
          <a:ln/>
        </p:spPr>
        <p:txBody>
          <a:bodyPr wrap="square" lIns="0" tIns="0" rIns="0" bIns="0" rtlCol="0" anchor="ctr"/>
          <a:lstStyle/>
          <a:p>
            <a:pPr algn="ctr" indent="0" marL="0">
              <a:buNone/>
            </a:pPr>
            <a:r>
              <a:rPr lang="en-US" sz="1100" b="1" dirty="0">
                <a:solidFill>
                  <a:srgbClr val="02050D"/>
                </a:solidFill>
              </a:rPr>
              <a:t>CONFIRMED + REPORTED</a:t>
            </a:r>
            <a:endParaRPr lang="en-US" sz="1100" dirty="0"/>
          </a:p>
        </p:txBody>
      </p:sp>
      <p:sp>
        <p:nvSpPr>
          <p:cNvPr id="46" name="Text 40"/>
          <p:cNvSpPr txBox="1"/>
          <p:nvPr/>
        </p:nvSpPr>
        <p:spPr>
          <a:xfrm>
            <a:off x="9409176" y="2880360"/>
            <a:ext cx="2011680" cy="640080"/>
          </a:xfrm>
          <a:prstGeom prst="rect">
            <a:avLst/>
          </a:prstGeom>
          <a:noFill/>
          <a:ln/>
        </p:spPr>
        <p:txBody>
          <a:bodyPr wrap="square" lIns="0" tIns="0" rIns="0" bIns="0" rtlCol="0" anchor="t"/>
          <a:lstStyle/>
          <a:p>
            <a:pPr indent="0" marL="0">
              <a:buNone/>
            </a:pPr>
            <a:r>
              <a:rPr lang="en-US" sz="1800" b="1" dirty="0">
                <a:solidFill>
                  <a:srgbClr val="FFFFFF"/>
                </a:solidFill>
              </a:rPr>
              <a:t>Operational disruption</a:t>
            </a:r>
            <a:endParaRPr lang="en-US" sz="1800" dirty="0"/>
          </a:p>
        </p:txBody>
      </p:sp>
      <p:sp>
        <p:nvSpPr>
          <p:cNvPr id="47" name="Text 41"/>
          <p:cNvSpPr txBox="1"/>
          <p:nvPr/>
        </p:nvSpPr>
        <p:spPr>
          <a:xfrm>
            <a:off x="9409176" y="3520440"/>
            <a:ext cx="2057400" cy="1143000"/>
          </a:xfrm>
          <a:prstGeom prst="rect">
            <a:avLst/>
          </a:prstGeom>
          <a:noFill/>
          <a:ln/>
        </p:spPr>
        <p:txBody>
          <a:bodyPr wrap="square" lIns="0" tIns="0" rIns="0" bIns="0" rtlCol="0" anchor="t"/>
          <a:lstStyle/>
          <a:p>
            <a:pPr indent="0" marL="0">
              <a:buNone/>
            </a:pPr>
            <a:r>
              <a:rPr lang="en-US" sz="1300" dirty="0">
                <a:solidFill>
                  <a:srgbClr val="9FB0C8"/>
                </a:solidFill>
              </a:rPr>
              <a:t>Online sales stopped; ransomware is reported by media, not confirmed here</a:t>
            </a:r>
            <a:endParaRPr lang="en-US" sz="1300" dirty="0"/>
          </a:p>
        </p:txBody>
      </p:sp>
      <p:sp>
        <p:nvSpPr>
          <p:cNvPr id="48" name="Concepts card"/>
          <p:cNvSpPr/>
          <p:nvPr/>
        </p:nvSpPr>
        <p:spPr>
          <a:xfrm>
            <a:off x="548640" y="4937760"/>
            <a:ext cx="11109960" cy="1005840"/>
          </a:xfrm>
          <a:prstGeom prst="roundRect">
            <a:avLst>
              <a:gd name="adj" fmla="val 10909"/>
            </a:avLst>
          </a:prstGeom>
          <a:solidFill>
            <a:srgbClr val="081525"/>
          </a:solidFill>
          <a:ln w="12700">
            <a:solidFill>
              <a:srgbClr val="1C4566"/>
            </a:solidFill>
            <a:prstDash val="solid"/>
          </a:ln>
        </p:spPr>
      </p:sp>
      <p:sp>
        <p:nvSpPr>
          <p:cNvPr id="49" name="Text 43"/>
          <p:cNvSpPr txBox="1"/>
          <p:nvPr/>
        </p:nvSpPr>
        <p:spPr>
          <a:xfrm>
            <a:off x="822960" y="5029200"/>
            <a:ext cx="10561320" cy="822960"/>
          </a:xfrm>
          <a:prstGeom prst="rect">
            <a:avLst/>
          </a:prstGeom>
          <a:noFill/>
          <a:ln/>
        </p:spPr>
        <p:txBody>
          <a:bodyPr wrap="square" lIns="0" tIns="0" rIns="0" bIns="0" rtlCol="0" anchor="ctr"/>
          <a:lstStyle/>
          <a:p>
            <a:pPr indent="0" marL="0">
              <a:buNone/>
            </a:pPr>
            <a:r>
              <a:rPr lang="en-US" sz="1500" dirty="0">
                <a:solidFill>
                  <a:srgbClr val="FFFFFF"/>
                </a:solidFill>
              </a:rPr>
              <a:t>Authentication proves who you are; authorization limits what you can do. If a human is tricked into vouching for an attacker, the account's full permissions are exposed. Least privilege limits that blast radius.</a:t>
            </a:r>
            <a:endParaRPr lang="en-US" sz="1500" dirty="0"/>
          </a:p>
        </p:txBody>
      </p:sp>
      <p:sp>
        <p:nvSpPr>
          <p:cNvPr id="50" name="Text 44"/>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Reuters 21 May 2025; M&amp;S newsroom 23 Apr 2025 (stages labelled by confidence)</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Impact on the CIA triad</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7" name="Progress 5"/>
          <p:cNvSpPr/>
          <p:nvPr/>
        </p:nvSpPr>
        <p:spPr>
          <a:xfrm>
            <a:off x="4251960" y="6729984"/>
            <a:ext cx="880110" cy="45720"/>
          </a:xfrm>
          <a:prstGeom prst="rect">
            <a:avLst/>
          </a:prstGeom>
          <a:solidFill>
            <a:srgbClr val="1C4566"/>
          </a:solidFill>
          <a:ln w="12700">
            <a:solidFill>
              <a:srgbClr val="1C4566"/>
            </a:solidFill>
            <a:prstDash val="solid"/>
          </a:ln>
        </p:spPr>
      </p:sp>
      <p:sp>
        <p:nvSpPr>
          <p:cNvPr id="8" name="Progress 6"/>
          <p:cNvSpPr/>
          <p:nvPr/>
        </p:nvSpPr>
        <p:spPr>
          <a:xfrm>
            <a:off x="5177790" y="6729984"/>
            <a:ext cx="880110" cy="45720"/>
          </a:xfrm>
          <a:prstGeom prst="rect">
            <a:avLst/>
          </a:prstGeom>
          <a:solidFill>
            <a:srgbClr val="22D3EE"/>
          </a:solidFill>
          <a:ln w="12700">
            <a:solidFill>
              <a:srgbClr val="22D3EE"/>
            </a:solidFill>
            <a:prstDash val="solid"/>
          </a:ln>
        </p:spPr>
      </p:sp>
      <p:sp>
        <p:nvSpPr>
          <p:cNvPr id="9" name="Progress 7"/>
          <p:cNvSpPr/>
          <p:nvPr/>
        </p:nvSpPr>
        <p:spPr>
          <a:xfrm>
            <a:off x="6103620" y="6729984"/>
            <a:ext cx="880110" cy="45720"/>
          </a:xfrm>
          <a:prstGeom prst="rect">
            <a:avLst/>
          </a:prstGeom>
          <a:solidFill>
            <a:srgbClr val="0B1B30"/>
          </a:solidFill>
          <a:ln w="12700">
            <a:solidFill>
              <a:srgbClr val="0B1B30"/>
            </a:solidFill>
            <a:prstDash val="solid"/>
          </a:ln>
        </p:spPr>
      </p:sp>
      <p:sp>
        <p:nvSpPr>
          <p:cNvPr id="10" name="Progress 8"/>
          <p:cNvSpPr/>
          <p:nvPr/>
        </p:nvSpPr>
        <p:spPr>
          <a:xfrm>
            <a:off x="7029450" y="6729984"/>
            <a:ext cx="880110" cy="45720"/>
          </a:xfrm>
          <a:prstGeom prst="rect">
            <a:avLst/>
          </a:prstGeom>
          <a:solidFill>
            <a:srgbClr val="0B1B30"/>
          </a:solidFill>
          <a:ln w="12700">
            <a:solidFill>
              <a:srgbClr val="0B1B30"/>
            </a:solidFill>
            <a:prstDash val="solid"/>
          </a:ln>
        </p:spPr>
      </p:sp>
      <p:sp>
        <p:nvSpPr>
          <p:cNvPr id="11" name="Progress 9"/>
          <p:cNvSpPr/>
          <p:nvPr/>
        </p:nvSpPr>
        <p:spPr>
          <a:xfrm>
            <a:off x="7955280" y="6729984"/>
            <a:ext cx="880110" cy="45720"/>
          </a:xfrm>
          <a:prstGeom prst="rect">
            <a:avLst/>
          </a:prstGeom>
          <a:solidFill>
            <a:srgbClr val="0B1B30"/>
          </a:solidFill>
          <a:ln w="12700">
            <a:solidFill>
              <a:srgbClr val="0B1B30"/>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6 / 12  |  IMPACT"/>
          <p:cNvSpPr/>
          <p:nvPr/>
        </p:nvSpPr>
        <p:spPr>
          <a:xfrm>
            <a:off x="8229600" y="6336792"/>
            <a:ext cx="2377440" cy="274320"/>
          </a:xfrm>
          <a:prstGeom prst="roundRect">
            <a:avLst>
              <a:gd name="adj" fmla="val 26667"/>
            </a:avLst>
          </a:prstGeom>
          <a:solidFill>
            <a:srgbClr val="FF5C6C"/>
          </a:solidFill>
          <a:ln w="12700">
            <a:solidFill>
              <a:srgbClr val="FF5C6C"/>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6 / 12  |  IMPACT</a:t>
            </a:r>
            <a:endParaRPr lang="en-US" sz="1100" dirty="0"/>
          </a:p>
        </p:txBody>
      </p:sp>
      <p:sp>
        <p:nvSpPr>
          <p:cNvPr id="17" name="Card Confidentiality"/>
          <p:cNvSpPr/>
          <p:nvPr/>
        </p:nvSpPr>
        <p:spPr>
          <a:xfrm>
            <a:off x="548640" y="1463040"/>
            <a:ext cx="3520440" cy="3383280"/>
          </a:xfrm>
          <a:prstGeom prst="roundRect">
            <a:avLst>
              <a:gd name="adj" fmla="val 3243"/>
            </a:avLst>
          </a:prstGeom>
          <a:solidFill>
            <a:srgbClr val="081525"/>
          </a:solidFill>
          <a:ln w="12700">
            <a:solidFill>
              <a:srgbClr val="1C4566"/>
            </a:solidFill>
            <a:prstDash val="solid"/>
          </a:ln>
        </p:spPr>
      </p:sp>
      <p:sp>
        <p:nvSpPr>
          <p:cNvPr id="18" name="Text 16"/>
          <p:cNvSpPr txBox="1"/>
          <p:nvPr/>
        </p:nvSpPr>
        <p:spPr>
          <a:xfrm>
            <a:off x="868680" y="1645920"/>
            <a:ext cx="1097280" cy="1097280"/>
          </a:xfrm>
          <a:prstGeom prst="rect">
            <a:avLst/>
          </a:prstGeom>
          <a:noFill/>
          <a:ln/>
        </p:spPr>
        <p:txBody>
          <a:bodyPr wrap="square" lIns="0" tIns="0" rIns="0" bIns="0" rtlCol="0" anchor="t"/>
          <a:lstStyle/>
          <a:p>
            <a:pPr indent="0" marL="0">
              <a:buNone/>
            </a:pPr>
            <a:r>
              <a:rPr lang="en-US" sz="6600" b="1" dirty="0">
                <a:solidFill>
                  <a:srgbClr val="FF5C6C"/>
                </a:solidFill>
              </a:rPr>
              <a:t>C</a:t>
            </a:r>
            <a:endParaRPr lang="en-US" sz="6600" dirty="0"/>
          </a:p>
        </p:txBody>
      </p:sp>
      <p:sp>
        <p:nvSpPr>
          <p:cNvPr id="19" name="Text 17"/>
          <p:cNvSpPr txBox="1"/>
          <p:nvPr/>
        </p:nvSpPr>
        <p:spPr>
          <a:xfrm>
            <a:off x="868680" y="2788920"/>
            <a:ext cx="2926080" cy="457200"/>
          </a:xfrm>
          <a:prstGeom prst="rect">
            <a:avLst/>
          </a:prstGeom>
          <a:noFill/>
          <a:ln/>
        </p:spPr>
        <p:txBody>
          <a:bodyPr wrap="square" lIns="0" tIns="0" rIns="0" bIns="0" rtlCol="0" anchor="t"/>
          <a:lstStyle/>
          <a:p>
            <a:pPr indent="0" marL="0">
              <a:buNone/>
            </a:pPr>
            <a:r>
              <a:rPr lang="en-US" sz="2400" b="1" dirty="0">
                <a:solidFill>
                  <a:srgbClr val="FFFFFF"/>
                </a:solidFill>
              </a:rPr>
              <a:t>Confidentiality</a:t>
            </a:r>
            <a:endParaRPr lang="en-US" sz="2400" dirty="0"/>
          </a:p>
        </p:txBody>
      </p:sp>
      <p:sp>
        <p:nvSpPr>
          <p:cNvPr id="20" name="Text 18"/>
          <p:cNvSpPr txBox="1"/>
          <p:nvPr/>
        </p:nvSpPr>
        <p:spPr>
          <a:xfrm>
            <a:off x="868680" y="3337560"/>
            <a:ext cx="2926080" cy="1371600"/>
          </a:xfrm>
          <a:prstGeom prst="rect">
            <a:avLst/>
          </a:prstGeom>
          <a:noFill/>
          <a:ln/>
        </p:spPr>
        <p:txBody>
          <a:bodyPr wrap="square" lIns="0" tIns="0" rIns="0" bIns="0" rtlCol="0" anchor="t"/>
          <a:lstStyle/>
          <a:p>
            <a:pPr indent="0" marL="0">
              <a:buNone/>
            </a:pPr>
            <a:r>
              <a:rPr lang="en-US" sz="1600" dirty="0">
                <a:solidFill>
                  <a:srgbClr val="9FB0C8"/>
                </a:solidFill>
              </a:rPr>
              <a:t>Some personal customer data was taken (confirmed by M&amp;S).</a:t>
            </a:r>
            <a:endParaRPr lang="en-US" sz="1600" dirty="0"/>
          </a:p>
        </p:txBody>
      </p:sp>
      <p:sp>
        <p:nvSpPr>
          <p:cNvPr id="21" name="Card Integrity"/>
          <p:cNvSpPr/>
          <p:nvPr/>
        </p:nvSpPr>
        <p:spPr>
          <a:xfrm>
            <a:off x="4343400" y="1463040"/>
            <a:ext cx="3520440" cy="3383280"/>
          </a:xfrm>
          <a:prstGeom prst="roundRect">
            <a:avLst>
              <a:gd name="adj" fmla="val 3243"/>
            </a:avLst>
          </a:prstGeom>
          <a:solidFill>
            <a:srgbClr val="081525"/>
          </a:solidFill>
          <a:ln w="12700">
            <a:solidFill>
              <a:srgbClr val="1C4566"/>
            </a:solidFill>
            <a:prstDash val="solid"/>
          </a:ln>
        </p:spPr>
      </p:sp>
      <p:sp>
        <p:nvSpPr>
          <p:cNvPr id="22" name="Text 20"/>
          <p:cNvSpPr txBox="1"/>
          <p:nvPr/>
        </p:nvSpPr>
        <p:spPr>
          <a:xfrm>
            <a:off x="4663440" y="1645920"/>
            <a:ext cx="1097280" cy="1097280"/>
          </a:xfrm>
          <a:prstGeom prst="rect">
            <a:avLst/>
          </a:prstGeom>
          <a:noFill/>
          <a:ln/>
        </p:spPr>
        <p:txBody>
          <a:bodyPr wrap="square" lIns="0" tIns="0" rIns="0" bIns="0" rtlCol="0" anchor="t"/>
          <a:lstStyle/>
          <a:p>
            <a:pPr indent="0" marL="0">
              <a:buNone/>
            </a:pPr>
            <a:r>
              <a:rPr lang="en-US" sz="6600" b="1" dirty="0">
                <a:solidFill>
                  <a:srgbClr val="FBBF24"/>
                </a:solidFill>
              </a:rPr>
              <a:t>I</a:t>
            </a:r>
            <a:endParaRPr lang="en-US" sz="6600" dirty="0"/>
          </a:p>
        </p:txBody>
      </p:sp>
      <p:sp>
        <p:nvSpPr>
          <p:cNvPr id="23" name="Text 21"/>
          <p:cNvSpPr txBox="1"/>
          <p:nvPr/>
        </p:nvSpPr>
        <p:spPr>
          <a:xfrm>
            <a:off x="4663440" y="2788920"/>
            <a:ext cx="2926080" cy="457200"/>
          </a:xfrm>
          <a:prstGeom prst="rect">
            <a:avLst/>
          </a:prstGeom>
          <a:noFill/>
          <a:ln/>
        </p:spPr>
        <p:txBody>
          <a:bodyPr wrap="square" lIns="0" tIns="0" rIns="0" bIns="0" rtlCol="0" anchor="t"/>
          <a:lstStyle/>
          <a:p>
            <a:pPr indent="0" marL="0">
              <a:buNone/>
            </a:pPr>
            <a:r>
              <a:rPr lang="en-US" sz="2400" b="1" dirty="0">
                <a:solidFill>
                  <a:srgbClr val="FFFFFF"/>
                </a:solidFill>
              </a:rPr>
              <a:t>Integrity</a:t>
            </a:r>
            <a:endParaRPr lang="en-US" sz="2400" dirty="0"/>
          </a:p>
        </p:txBody>
      </p:sp>
      <p:sp>
        <p:nvSpPr>
          <p:cNvPr id="24" name="Text 22"/>
          <p:cNvSpPr txBox="1"/>
          <p:nvPr/>
        </p:nvSpPr>
        <p:spPr>
          <a:xfrm>
            <a:off x="4663440" y="3337560"/>
            <a:ext cx="2926080" cy="1371600"/>
          </a:xfrm>
          <a:prstGeom prst="rect">
            <a:avLst/>
          </a:prstGeom>
          <a:noFill/>
          <a:ln/>
        </p:spPr>
        <p:txBody>
          <a:bodyPr wrap="square" lIns="0" tIns="0" rIns="0" bIns="0" rtlCol="0" anchor="t"/>
          <a:lstStyle/>
          <a:p>
            <a:pPr indent="0" marL="0">
              <a:buNone/>
            </a:pPr>
            <a:r>
              <a:rPr lang="en-US" sz="1600" dirty="0">
                <a:solidFill>
                  <a:srgbClr val="9FB0C8"/>
                </a:solidFill>
              </a:rPr>
              <a:t>About 600 systems were scanned for damage before being restored.</a:t>
            </a:r>
            <a:endParaRPr lang="en-US" sz="1600" dirty="0"/>
          </a:p>
        </p:txBody>
      </p:sp>
      <p:sp>
        <p:nvSpPr>
          <p:cNvPr id="25" name="Card Availability"/>
          <p:cNvSpPr/>
          <p:nvPr/>
        </p:nvSpPr>
        <p:spPr>
          <a:xfrm>
            <a:off x="8138160" y="1463040"/>
            <a:ext cx="3520440" cy="3383280"/>
          </a:xfrm>
          <a:prstGeom prst="roundRect">
            <a:avLst>
              <a:gd name="adj" fmla="val 3243"/>
            </a:avLst>
          </a:prstGeom>
          <a:solidFill>
            <a:srgbClr val="081525"/>
          </a:solidFill>
          <a:ln w="12700">
            <a:solidFill>
              <a:srgbClr val="1C4566"/>
            </a:solidFill>
            <a:prstDash val="solid"/>
          </a:ln>
        </p:spPr>
      </p:sp>
      <p:sp>
        <p:nvSpPr>
          <p:cNvPr id="26" name="Text 24"/>
          <p:cNvSpPr txBox="1"/>
          <p:nvPr/>
        </p:nvSpPr>
        <p:spPr>
          <a:xfrm>
            <a:off x="8458200" y="1645920"/>
            <a:ext cx="1097280" cy="1097280"/>
          </a:xfrm>
          <a:prstGeom prst="rect">
            <a:avLst/>
          </a:prstGeom>
          <a:noFill/>
          <a:ln/>
        </p:spPr>
        <p:txBody>
          <a:bodyPr wrap="square" lIns="0" tIns="0" rIns="0" bIns="0" rtlCol="0" anchor="t"/>
          <a:lstStyle/>
          <a:p>
            <a:pPr indent="0" marL="0">
              <a:buNone/>
            </a:pPr>
            <a:r>
              <a:rPr lang="en-US" sz="6600" b="1" dirty="0">
                <a:solidFill>
                  <a:srgbClr val="FF5C6C"/>
                </a:solidFill>
              </a:rPr>
              <a:t>A</a:t>
            </a:r>
            <a:endParaRPr lang="en-US" sz="6600" dirty="0"/>
          </a:p>
        </p:txBody>
      </p:sp>
      <p:sp>
        <p:nvSpPr>
          <p:cNvPr id="27" name="Text 25"/>
          <p:cNvSpPr txBox="1"/>
          <p:nvPr/>
        </p:nvSpPr>
        <p:spPr>
          <a:xfrm>
            <a:off x="8458200" y="2788920"/>
            <a:ext cx="2926080" cy="457200"/>
          </a:xfrm>
          <a:prstGeom prst="rect">
            <a:avLst/>
          </a:prstGeom>
          <a:noFill/>
          <a:ln/>
        </p:spPr>
        <p:txBody>
          <a:bodyPr wrap="square" lIns="0" tIns="0" rIns="0" bIns="0" rtlCol="0" anchor="t"/>
          <a:lstStyle/>
          <a:p>
            <a:pPr indent="0" marL="0">
              <a:buNone/>
            </a:pPr>
            <a:r>
              <a:rPr lang="en-US" sz="2400" b="1" dirty="0">
                <a:solidFill>
                  <a:srgbClr val="FFFFFF"/>
                </a:solidFill>
              </a:rPr>
              <a:t>Availability</a:t>
            </a:r>
            <a:endParaRPr lang="en-US" sz="2400" dirty="0"/>
          </a:p>
        </p:txBody>
      </p:sp>
      <p:sp>
        <p:nvSpPr>
          <p:cNvPr id="28" name="Text 26"/>
          <p:cNvSpPr txBox="1"/>
          <p:nvPr/>
        </p:nvSpPr>
        <p:spPr>
          <a:xfrm>
            <a:off x="8458200" y="3337560"/>
            <a:ext cx="2926080" cy="1371600"/>
          </a:xfrm>
          <a:prstGeom prst="rect">
            <a:avLst/>
          </a:prstGeom>
          <a:noFill/>
          <a:ln/>
        </p:spPr>
        <p:txBody>
          <a:bodyPr wrap="square" lIns="0" tIns="0" rIns="0" bIns="0" rtlCol="0" anchor="t"/>
          <a:lstStyle/>
          <a:p>
            <a:pPr indent="0" marL="0">
              <a:buNone/>
            </a:pPr>
            <a:r>
              <a:rPr lang="en-US" sz="1600" dirty="0">
                <a:solidFill>
                  <a:srgbClr val="9FB0C8"/>
                </a:solidFill>
              </a:rPr>
              <a:t>Online sales stopped; contactless and Click &amp; Collect were paused.</a:t>
            </a:r>
            <a:endParaRPr lang="en-US" sz="1600" dirty="0"/>
          </a:p>
        </p:txBody>
      </p:sp>
      <p:sp>
        <p:nvSpPr>
          <p:cNvPr id="29" name="Identity strip"/>
          <p:cNvSpPr/>
          <p:nvPr/>
        </p:nvSpPr>
        <p:spPr>
          <a:xfrm>
            <a:off x="548640" y="5074920"/>
            <a:ext cx="11109960" cy="822960"/>
          </a:xfrm>
          <a:prstGeom prst="roundRect">
            <a:avLst>
              <a:gd name="adj" fmla="val 13333"/>
            </a:avLst>
          </a:prstGeom>
          <a:solidFill>
            <a:srgbClr val="081525"/>
          </a:solidFill>
          <a:ln w="12700">
            <a:solidFill>
              <a:srgbClr val="1C4566"/>
            </a:solidFill>
            <a:prstDash val="solid"/>
          </a:ln>
        </p:spPr>
      </p:sp>
      <p:sp>
        <p:nvSpPr>
          <p:cNvPr id="30" name="Text 28"/>
          <p:cNvSpPr txBox="1"/>
          <p:nvPr/>
        </p:nvSpPr>
        <p:spPr>
          <a:xfrm>
            <a:off x="822960" y="5074920"/>
            <a:ext cx="10515600" cy="822960"/>
          </a:xfrm>
          <a:prstGeom prst="rect">
            <a:avLst/>
          </a:prstGeom>
          <a:noFill/>
          <a:ln/>
        </p:spPr>
        <p:txBody>
          <a:bodyPr wrap="square" lIns="0" tIns="0" rIns="0" bIns="0" rtlCol="0" anchor="ctr"/>
          <a:lstStyle/>
          <a:p>
            <a:pPr indent="0" marL="0">
              <a:buNone/>
            </a:pPr>
            <a:r>
              <a:rPr lang="en-US" sz="1800" b="1" dirty="0">
                <a:solidFill>
                  <a:srgbClr val="22D3EE"/>
                </a:solidFill>
              </a:rPr>
              <a:t>Identity systems sit underneath all three: whoever controls an account inherits its access.</a:t>
            </a:r>
            <a:endParaRPr lang="en-US" sz="1800" dirty="0"/>
          </a:p>
        </p:txBody>
      </p:sp>
      <p:sp>
        <p:nvSpPr>
          <p:cNvPr id="31" name="Text 29"/>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M&amp;S newsroom 23 Apr 2025; M&amp;S RNS 13 May 2025; Reuters 21 May 2025</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Impact: what was affected, and what was not</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7" name="Progress 5"/>
          <p:cNvSpPr/>
          <p:nvPr/>
        </p:nvSpPr>
        <p:spPr>
          <a:xfrm>
            <a:off x="4251960" y="6729984"/>
            <a:ext cx="880110" cy="45720"/>
          </a:xfrm>
          <a:prstGeom prst="rect">
            <a:avLst/>
          </a:prstGeom>
          <a:solidFill>
            <a:srgbClr val="1C4566"/>
          </a:solidFill>
          <a:ln w="12700">
            <a:solidFill>
              <a:srgbClr val="1C4566"/>
            </a:solidFill>
            <a:prstDash val="solid"/>
          </a:ln>
        </p:spPr>
      </p:sp>
      <p:sp>
        <p:nvSpPr>
          <p:cNvPr id="8" name="Progress 6"/>
          <p:cNvSpPr/>
          <p:nvPr/>
        </p:nvSpPr>
        <p:spPr>
          <a:xfrm>
            <a:off x="5177790" y="6729984"/>
            <a:ext cx="880110" cy="45720"/>
          </a:xfrm>
          <a:prstGeom prst="rect">
            <a:avLst/>
          </a:prstGeom>
          <a:solidFill>
            <a:srgbClr val="1C4566"/>
          </a:solidFill>
          <a:ln w="12700">
            <a:solidFill>
              <a:srgbClr val="1C4566"/>
            </a:solidFill>
            <a:prstDash val="solid"/>
          </a:ln>
        </p:spPr>
      </p:sp>
      <p:sp>
        <p:nvSpPr>
          <p:cNvPr id="9" name="Progress 7"/>
          <p:cNvSpPr/>
          <p:nvPr/>
        </p:nvSpPr>
        <p:spPr>
          <a:xfrm>
            <a:off x="6103620" y="6729984"/>
            <a:ext cx="880110" cy="45720"/>
          </a:xfrm>
          <a:prstGeom prst="rect">
            <a:avLst/>
          </a:prstGeom>
          <a:solidFill>
            <a:srgbClr val="22D3EE"/>
          </a:solidFill>
          <a:ln w="12700">
            <a:solidFill>
              <a:srgbClr val="22D3EE"/>
            </a:solidFill>
            <a:prstDash val="solid"/>
          </a:ln>
        </p:spPr>
      </p:sp>
      <p:sp>
        <p:nvSpPr>
          <p:cNvPr id="10" name="Progress 8"/>
          <p:cNvSpPr/>
          <p:nvPr/>
        </p:nvSpPr>
        <p:spPr>
          <a:xfrm>
            <a:off x="7029450" y="6729984"/>
            <a:ext cx="880110" cy="45720"/>
          </a:xfrm>
          <a:prstGeom prst="rect">
            <a:avLst/>
          </a:prstGeom>
          <a:solidFill>
            <a:srgbClr val="0B1B30"/>
          </a:solidFill>
          <a:ln w="12700">
            <a:solidFill>
              <a:srgbClr val="0B1B30"/>
            </a:solidFill>
            <a:prstDash val="solid"/>
          </a:ln>
        </p:spPr>
      </p:sp>
      <p:sp>
        <p:nvSpPr>
          <p:cNvPr id="11" name="Progress 9"/>
          <p:cNvSpPr/>
          <p:nvPr/>
        </p:nvSpPr>
        <p:spPr>
          <a:xfrm>
            <a:off x="7955280" y="6729984"/>
            <a:ext cx="880110" cy="45720"/>
          </a:xfrm>
          <a:prstGeom prst="rect">
            <a:avLst/>
          </a:prstGeom>
          <a:solidFill>
            <a:srgbClr val="0B1B30"/>
          </a:solidFill>
          <a:ln w="12700">
            <a:solidFill>
              <a:srgbClr val="0B1B30"/>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7 / 12  |  IMPACT"/>
          <p:cNvSpPr/>
          <p:nvPr/>
        </p:nvSpPr>
        <p:spPr>
          <a:xfrm>
            <a:off x="8229600" y="6336792"/>
            <a:ext cx="2377440" cy="274320"/>
          </a:xfrm>
          <a:prstGeom prst="roundRect">
            <a:avLst>
              <a:gd name="adj" fmla="val 26667"/>
            </a:avLst>
          </a:prstGeom>
          <a:solidFill>
            <a:srgbClr val="FF5C6C"/>
          </a:solidFill>
          <a:ln w="12700">
            <a:solidFill>
              <a:srgbClr val="FF5C6C"/>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7 / 12  |  IMPACT</a:t>
            </a:r>
            <a:endParaRPr lang="en-US" sz="1100" dirty="0"/>
          </a:p>
        </p:txBody>
      </p:sp>
      <p:sp>
        <p:nvSpPr>
          <p:cNvPr id="17" name="Stat 1"/>
          <p:cNvSpPr/>
          <p:nvPr/>
        </p:nvSpPr>
        <p:spPr>
          <a:xfrm>
            <a:off x="548640" y="1463040"/>
            <a:ext cx="2606040" cy="2560320"/>
          </a:xfrm>
          <a:prstGeom prst="roundRect">
            <a:avLst>
              <a:gd name="adj" fmla="val 4286"/>
            </a:avLst>
          </a:prstGeom>
          <a:solidFill>
            <a:srgbClr val="081525"/>
          </a:solidFill>
          <a:ln w="12700">
            <a:solidFill>
              <a:srgbClr val="1C4566"/>
            </a:solidFill>
            <a:prstDash val="solid"/>
          </a:ln>
        </p:spPr>
      </p:sp>
      <p:sp>
        <p:nvSpPr>
          <p:cNvPr id="18" name="Text 16"/>
          <p:cNvSpPr txBox="1"/>
          <p:nvPr/>
        </p:nvSpPr>
        <p:spPr>
          <a:xfrm>
            <a:off x="731520" y="1783080"/>
            <a:ext cx="2240280" cy="914400"/>
          </a:xfrm>
          <a:prstGeom prst="rect">
            <a:avLst/>
          </a:prstGeom>
          <a:noFill/>
          <a:ln/>
        </p:spPr>
        <p:txBody>
          <a:bodyPr wrap="square" lIns="0" tIns="0" rIns="0" bIns="0" rtlCol="0" anchor="ctr"/>
          <a:lstStyle/>
          <a:p>
            <a:pPr algn="ctr" indent="0" marL="0">
              <a:buNone/>
            </a:pPr>
            <a:r>
              <a:rPr lang="en-US" sz="4400" b="1" dirty="0">
                <a:solidFill>
                  <a:srgbClr val="22D3EE"/>
                </a:solidFill>
              </a:rPr>
              <a:t>600</a:t>
            </a:r>
            <a:endParaRPr lang="en-US" sz="4400" dirty="0"/>
          </a:p>
        </p:txBody>
      </p:sp>
      <p:sp>
        <p:nvSpPr>
          <p:cNvPr id="19" name="Text 17"/>
          <p:cNvSpPr txBox="1"/>
          <p:nvPr/>
        </p:nvSpPr>
        <p:spPr>
          <a:xfrm>
            <a:off x="777240" y="2834640"/>
            <a:ext cx="2148840" cy="1005840"/>
          </a:xfrm>
          <a:prstGeom prst="rect">
            <a:avLst/>
          </a:prstGeom>
          <a:noFill/>
          <a:ln/>
        </p:spPr>
        <p:txBody>
          <a:bodyPr wrap="square" lIns="0" tIns="0" rIns="0" bIns="0" rtlCol="0" anchor="t"/>
          <a:lstStyle/>
          <a:p>
            <a:pPr algn="ctr" indent="0" marL="0">
              <a:buNone/>
            </a:pPr>
            <a:r>
              <a:rPr lang="en-US" sz="1500" dirty="0">
                <a:solidFill>
                  <a:srgbClr val="9FB0C8"/>
                </a:solidFill>
              </a:rPr>
              <a:t>systems scanned for damage</a:t>
            </a:r>
            <a:endParaRPr lang="en-US" sz="1500" dirty="0"/>
          </a:p>
        </p:txBody>
      </p:sp>
      <p:sp>
        <p:nvSpPr>
          <p:cNvPr id="20" name="Stat 2"/>
          <p:cNvSpPr/>
          <p:nvPr/>
        </p:nvSpPr>
        <p:spPr>
          <a:xfrm>
            <a:off x="3383280" y="1463040"/>
            <a:ext cx="2606040" cy="2560320"/>
          </a:xfrm>
          <a:prstGeom prst="roundRect">
            <a:avLst>
              <a:gd name="adj" fmla="val 4286"/>
            </a:avLst>
          </a:prstGeom>
          <a:solidFill>
            <a:srgbClr val="081525"/>
          </a:solidFill>
          <a:ln w="12700">
            <a:solidFill>
              <a:srgbClr val="1C4566"/>
            </a:solidFill>
            <a:prstDash val="solid"/>
          </a:ln>
        </p:spPr>
      </p:sp>
      <p:sp>
        <p:nvSpPr>
          <p:cNvPr id="21" name="Text 19"/>
          <p:cNvSpPr txBox="1"/>
          <p:nvPr/>
        </p:nvSpPr>
        <p:spPr>
          <a:xfrm>
            <a:off x="3566160" y="1783080"/>
            <a:ext cx="2240280" cy="914400"/>
          </a:xfrm>
          <a:prstGeom prst="rect">
            <a:avLst/>
          </a:prstGeom>
          <a:noFill/>
          <a:ln/>
        </p:spPr>
        <p:txBody>
          <a:bodyPr wrap="square" lIns="0" tIns="0" rIns="0" bIns="0" rtlCol="0" anchor="ctr"/>
          <a:lstStyle/>
          <a:p>
            <a:pPr algn="ctr" indent="0" marL="0">
              <a:buNone/>
            </a:pPr>
            <a:r>
              <a:rPr lang="en-US" sz="4400" b="1" dirty="0">
                <a:solidFill>
                  <a:srgbClr val="FBBF24"/>
                </a:solidFill>
              </a:rPr>
              <a:t>July</a:t>
            </a:r>
            <a:endParaRPr lang="en-US" sz="4400" dirty="0"/>
          </a:p>
        </p:txBody>
      </p:sp>
      <p:sp>
        <p:nvSpPr>
          <p:cNvPr id="22" name="Text 20"/>
          <p:cNvSpPr txBox="1"/>
          <p:nvPr/>
        </p:nvSpPr>
        <p:spPr>
          <a:xfrm>
            <a:off x="3611880" y="2834640"/>
            <a:ext cx="2148840" cy="1005840"/>
          </a:xfrm>
          <a:prstGeom prst="rect">
            <a:avLst/>
          </a:prstGeom>
          <a:noFill/>
          <a:ln/>
        </p:spPr>
        <p:txBody>
          <a:bodyPr wrap="square" lIns="0" tIns="0" rIns="0" bIns="0" rtlCol="0" anchor="t"/>
          <a:lstStyle/>
          <a:p>
            <a:pPr algn="ctr" indent="0" marL="0">
              <a:buNone/>
            </a:pPr>
            <a:r>
              <a:rPr lang="en-US" sz="1500" dirty="0">
                <a:solidFill>
                  <a:srgbClr val="9FB0C8"/>
                </a:solidFill>
              </a:rPr>
              <a:t>earliest full online-sales restoration expected</a:t>
            </a:r>
            <a:endParaRPr lang="en-US" sz="1500" dirty="0"/>
          </a:p>
        </p:txBody>
      </p:sp>
      <p:sp>
        <p:nvSpPr>
          <p:cNvPr id="23" name="Stat 3"/>
          <p:cNvSpPr/>
          <p:nvPr/>
        </p:nvSpPr>
        <p:spPr>
          <a:xfrm>
            <a:off x="6217920" y="1463040"/>
            <a:ext cx="2606040" cy="2560320"/>
          </a:xfrm>
          <a:prstGeom prst="roundRect">
            <a:avLst>
              <a:gd name="adj" fmla="val 4286"/>
            </a:avLst>
          </a:prstGeom>
          <a:solidFill>
            <a:srgbClr val="081525"/>
          </a:solidFill>
          <a:ln w="12700">
            <a:solidFill>
              <a:srgbClr val="1C4566"/>
            </a:solidFill>
            <a:prstDash val="solid"/>
          </a:ln>
        </p:spPr>
      </p:sp>
      <p:sp>
        <p:nvSpPr>
          <p:cNvPr id="24" name="Text 22"/>
          <p:cNvSpPr txBox="1"/>
          <p:nvPr/>
        </p:nvSpPr>
        <p:spPr>
          <a:xfrm>
            <a:off x="6400800" y="1783080"/>
            <a:ext cx="2240280" cy="914400"/>
          </a:xfrm>
          <a:prstGeom prst="rect">
            <a:avLst/>
          </a:prstGeom>
          <a:noFill/>
          <a:ln/>
        </p:spPr>
        <p:txBody>
          <a:bodyPr wrap="square" lIns="0" tIns="0" rIns="0" bIns="0" rtlCol="0" anchor="ctr"/>
          <a:lstStyle/>
          <a:p>
            <a:pPr algn="ctr" indent="0" marL="0">
              <a:buNone/>
            </a:pPr>
            <a:r>
              <a:rPr lang="en-US" sz="4400" b="1" dirty="0">
                <a:solidFill>
                  <a:srgbClr val="34D399"/>
                </a:solidFill>
              </a:rPr>
              <a:t>None</a:t>
            </a:r>
            <a:endParaRPr lang="en-US" sz="4400" dirty="0"/>
          </a:p>
        </p:txBody>
      </p:sp>
      <p:sp>
        <p:nvSpPr>
          <p:cNvPr id="25" name="Text 23"/>
          <p:cNvSpPr txBox="1"/>
          <p:nvPr/>
        </p:nvSpPr>
        <p:spPr>
          <a:xfrm>
            <a:off x="6446520" y="2834640"/>
            <a:ext cx="2148840" cy="1005840"/>
          </a:xfrm>
          <a:prstGeom prst="rect">
            <a:avLst/>
          </a:prstGeom>
          <a:noFill/>
          <a:ln/>
        </p:spPr>
        <p:txBody>
          <a:bodyPr wrap="square" lIns="0" tIns="0" rIns="0" bIns="0" rtlCol="0" anchor="t"/>
          <a:lstStyle/>
          <a:p>
            <a:pPr algn="ctr" indent="0" marL="0">
              <a:buNone/>
            </a:pPr>
            <a:r>
              <a:rPr lang="en-US" sz="1500" dirty="0">
                <a:solidFill>
                  <a:srgbClr val="9FB0C8"/>
                </a:solidFill>
              </a:rPr>
              <a:t>usable card details or passwords in the stolen data, per M&amp;S</a:t>
            </a:r>
            <a:endParaRPr lang="en-US" sz="1500" dirty="0"/>
          </a:p>
        </p:txBody>
      </p:sp>
      <p:sp>
        <p:nvSpPr>
          <p:cNvPr id="26" name="Stat 4"/>
          <p:cNvSpPr/>
          <p:nvPr/>
        </p:nvSpPr>
        <p:spPr>
          <a:xfrm>
            <a:off x="9052560" y="1463040"/>
            <a:ext cx="2606040" cy="2560320"/>
          </a:xfrm>
          <a:prstGeom prst="roundRect">
            <a:avLst>
              <a:gd name="adj" fmla="val 4286"/>
            </a:avLst>
          </a:prstGeom>
          <a:solidFill>
            <a:srgbClr val="081525"/>
          </a:solidFill>
          <a:ln w="12700">
            <a:solidFill>
              <a:srgbClr val="1C4566"/>
            </a:solidFill>
            <a:prstDash val="solid"/>
          </a:ln>
        </p:spPr>
      </p:sp>
      <p:sp>
        <p:nvSpPr>
          <p:cNvPr id="27" name="Text 25"/>
          <p:cNvSpPr txBox="1"/>
          <p:nvPr/>
        </p:nvSpPr>
        <p:spPr>
          <a:xfrm>
            <a:off x="9235440" y="1783080"/>
            <a:ext cx="2240280" cy="914400"/>
          </a:xfrm>
          <a:prstGeom prst="rect">
            <a:avLst/>
          </a:prstGeom>
          <a:noFill/>
          <a:ln/>
        </p:spPr>
        <p:txBody>
          <a:bodyPr wrap="square" lIns="0" tIns="0" rIns="0" bIns="0" rtlCol="0" anchor="ctr"/>
          <a:lstStyle/>
          <a:p>
            <a:pPr algn="ctr" indent="0" marL="0">
              <a:buNone/>
            </a:pPr>
            <a:r>
              <a:rPr lang="en-US" sz="4400" b="1" dirty="0">
                <a:solidFill>
                  <a:srgbClr val="9FB0C8"/>
                </a:solidFill>
              </a:rPr>
              <a:t>~£14bn</a:t>
            </a:r>
            <a:endParaRPr lang="en-US" sz="4400" dirty="0"/>
          </a:p>
        </p:txBody>
      </p:sp>
      <p:sp>
        <p:nvSpPr>
          <p:cNvPr id="28" name="Text 26"/>
          <p:cNvSpPr txBox="1"/>
          <p:nvPr/>
        </p:nvSpPr>
        <p:spPr>
          <a:xfrm>
            <a:off x="9281160" y="2834640"/>
            <a:ext cx="2148840" cy="1005840"/>
          </a:xfrm>
          <a:prstGeom prst="rect">
            <a:avLst/>
          </a:prstGeom>
          <a:noFill/>
          <a:ln/>
        </p:spPr>
        <p:txBody>
          <a:bodyPr wrap="square" lIns="0" tIns="0" rIns="0" bIns="0" rtlCol="0" anchor="t"/>
          <a:lstStyle/>
          <a:p>
            <a:pPr algn="ctr" indent="0" marL="0">
              <a:buNone/>
            </a:pPr>
            <a:r>
              <a:rPr lang="en-US" sz="1500" dirty="0">
                <a:solidFill>
                  <a:srgbClr val="9FB0C8"/>
                </a:solidFill>
              </a:rPr>
              <a:t>annual sales: the scale at stake</a:t>
            </a:r>
            <a:endParaRPr lang="en-US" sz="1500" dirty="0"/>
          </a:p>
        </p:txBody>
      </p:sp>
      <p:sp>
        <p:nvSpPr>
          <p:cNvPr id="29" name="Privacy card"/>
          <p:cNvSpPr/>
          <p:nvPr/>
        </p:nvSpPr>
        <p:spPr>
          <a:xfrm>
            <a:off x="548640" y="4297680"/>
            <a:ext cx="11109960" cy="1600200"/>
          </a:xfrm>
          <a:prstGeom prst="roundRect">
            <a:avLst>
              <a:gd name="adj" fmla="val 6857"/>
            </a:avLst>
          </a:prstGeom>
          <a:solidFill>
            <a:srgbClr val="081525"/>
          </a:solidFill>
          <a:ln w="12700">
            <a:solidFill>
              <a:srgbClr val="1C4566"/>
            </a:solidFill>
            <a:prstDash val="solid"/>
          </a:ln>
        </p:spPr>
      </p:sp>
      <p:sp>
        <p:nvSpPr>
          <p:cNvPr id="30" name="Data icon"/>
          <p:cNvSpPr/>
          <p:nvPr/>
        </p:nvSpPr>
        <p:spPr>
          <a:xfrm>
            <a:off x="914400" y="4709160"/>
            <a:ext cx="777240" cy="777240"/>
          </a:xfrm>
          <a:prstGeom prst="ellipse">
            <a:avLst/>
          </a:prstGeom>
          <a:solidFill>
            <a:srgbClr val="22D3EE"/>
          </a:solidFill>
          <a:ln w="12700">
            <a:solidFill>
              <a:srgbClr val="22D3EE"/>
            </a:solidFill>
            <a:prstDash val="solid"/>
          </a:ln>
        </p:spPr>
      </p:sp>
      <p:pic>
        <p:nvPicPr>
          <p:cNvPr id="31" name="Image 0" descr="Data icon">    </p:cNvPr>
          <p:cNvPicPr>
            <a:picLocks noChangeAspect="1"/>
          </p:cNvPicPr>
          <p:nvPr/>
        </p:nvPicPr>
        <p:blipFill>
          <a:blip r:embed="rId1"/>
          <a:stretch>
            <a:fillRect/>
          </a:stretch>
        </p:blipFill>
        <p:spPr>
          <a:xfrm>
            <a:off x="1132027" y="4926787"/>
            <a:ext cx="341986" cy="341986"/>
          </a:xfrm>
          <a:prstGeom prst="rect">
            <a:avLst/>
          </a:prstGeom>
        </p:spPr>
      </p:pic>
      <p:sp>
        <p:nvSpPr>
          <p:cNvPr id="32" name="Text 29"/>
          <p:cNvSpPr txBox="1"/>
          <p:nvPr/>
        </p:nvSpPr>
        <p:spPr>
          <a:xfrm>
            <a:off x="2011680" y="4480560"/>
            <a:ext cx="9144000" cy="411480"/>
          </a:xfrm>
          <a:prstGeom prst="rect">
            <a:avLst/>
          </a:prstGeom>
          <a:noFill/>
          <a:ln/>
        </p:spPr>
        <p:txBody>
          <a:bodyPr wrap="square" lIns="0" tIns="0" rIns="0" bIns="0" rtlCol="0" anchor="t"/>
          <a:lstStyle/>
          <a:p>
            <a:pPr indent="0" marL="0">
              <a:buNone/>
            </a:pPr>
            <a:r>
              <a:rPr lang="en-US" sz="2200" b="1" dirty="0">
                <a:solidFill>
                  <a:srgbClr val="FFFFFF"/>
                </a:solidFill>
              </a:rPr>
              <a:t>Privacy and continuity</a:t>
            </a:r>
            <a:endParaRPr lang="en-US" sz="2200" dirty="0"/>
          </a:p>
        </p:txBody>
      </p:sp>
      <p:sp>
        <p:nvSpPr>
          <p:cNvPr id="33" name="Text 30"/>
          <p:cNvSpPr txBox="1"/>
          <p:nvPr/>
        </p:nvSpPr>
        <p:spPr>
          <a:xfrm>
            <a:off x="2011680" y="4937760"/>
            <a:ext cx="9418320" cy="822960"/>
          </a:xfrm>
          <a:prstGeom prst="rect">
            <a:avLst/>
          </a:prstGeom>
          <a:noFill/>
          <a:ln/>
        </p:spPr>
        <p:txBody>
          <a:bodyPr wrap="square" lIns="0" tIns="0" rIns="0" bIns="0" rtlCol="0" anchor="t"/>
          <a:lstStyle/>
          <a:p>
            <a:pPr indent="0" marL="0">
              <a:buNone/>
            </a:pPr>
            <a:r>
              <a:rPr lang="en-US" sz="1600" dirty="0">
                <a:solidFill>
                  <a:srgbClr val="9FB0C8"/>
                </a:solidFill>
              </a:rPr>
              <a:t>M&amp;S said there is no evidence the data has been shared and prompted customers to reset passwords. Personal data can still be reused for phishing, so vigilance matters.</a:t>
            </a:r>
            <a:endParaRPr lang="en-US" sz="1600" dirty="0"/>
          </a:p>
        </p:txBody>
      </p:sp>
      <p:sp>
        <p:nvSpPr>
          <p:cNvPr id="34" name="Text 31"/>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M&amp;S RNS 13 May 2025; Reuters 21 May 2025</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Recovery: documented response vs best practice</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7" name="Progress 5"/>
          <p:cNvSpPr/>
          <p:nvPr/>
        </p:nvSpPr>
        <p:spPr>
          <a:xfrm>
            <a:off x="4251960" y="6729984"/>
            <a:ext cx="880110" cy="45720"/>
          </a:xfrm>
          <a:prstGeom prst="rect">
            <a:avLst/>
          </a:prstGeom>
          <a:solidFill>
            <a:srgbClr val="1C4566"/>
          </a:solidFill>
          <a:ln w="12700">
            <a:solidFill>
              <a:srgbClr val="1C4566"/>
            </a:solidFill>
            <a:prstDash val="solid"/>
          </a:ln>
        </p:spPr>
      </p:sp>
      <p:sp>
        <p:nvSpPr>
          <p:cNvPr id="8" name="Progress 6"/>
          <p:cNvSpPr/>
          <p:nvPr/>
        </p:nvSpPr>
        <p:spPr>
          <a:xfrm>
            <a:off x="5177790" y="6729984"/>
            <a:ext cx="880110" cy="45720"/>
          </a:xfrm>
          <a:prstGeom prst="rect">
            <a:avLst/>
          </a:prstGeom>
          <a:solidFill>
            <a:srgbClr val="1C4566"/>
          </a:solidFill>
          <a:ln w="12700">
            <a:solidFill>
              <a:srgbClr val="1C4566"/>
            </a:solidFill>
            <a:prstDash val="solid"/>
          </a:ln>
        </p:spPr>
      </p:sp>
      <p:sp>
        <p:nvSpPr>
          <p:cNvPr id="9" name="Progress 7"/>
          <p:cNvSpPr/>
          <p:nvPr/>
        </p:nvSpPr>
        <p:spPr>
          <a:xfrm>
            <a:off x="6103620" y="6729984"/>
            <a:ext cx="880110" cy="45720"/>
          </a:xfrm>
          <a:prstGeom prst="rect">
            <a:avLst/>
          </a:prstGeom>
          <a:solidFill>
            <a:srgbClr val="1C4566"/>
          </a:solidFill>
          <a:ln w="12700">
            <a:solidFill>
              <a:srgbClr val="1C4566"/>
            </a:solidFill>
            <a:prstDash val="solid"/>
          </a:ln>
        </p:spPr>
      </p:sp>
      <p:sp>
        <p:nvSpPr>
          <p:cNvPr id="10" name="Progress 8"/>
          <p:cNvSpPr/>
          <p:nvPr/>
        </p:nvSpPr>
        <p:spPr>
          <a:xfrm>
            <a:off x="7029450" y="6729984"/>
            <a:ext cx="880110" cy="45720"/>
          </a:xfrm>
          <a:prstGeom prst="rect">
            <a:avLst/>
          </a:prstGeom>
          <a:solidFill>
            <a:srgbClr val="22D3EE"/>
          </a:solidFill>
          <a:ln w="12700">
            <a:solidFill>
              <a:srgbClr val="22D3EE"/>
            </a:solidFill>
            <a:prstDash val="solid"/>
          </a:ln>
        </p:spPr>
      </p:sp>
      <p:sp>
        <p:nvSpPr>
          <p:cNvPr id="11" name="Progress 9"/>
          <p:cNvSpPr/>
          <p:nvPr/>
        </p:nvSpPr>
        <p:spPr>
          <a:xfrm>
            <a:off x="7955280" y="6729984"/>
            <a:ext cx="880110" cy="45720"/>
          </a:xfrm>
          <a:prstGeom prst="rect">
            <a:avLst/>
          </a:prstGeom>
          <a:solidFill>
            <a:srgbClr val="0B1B30"/>
          </a:solidFill>
          <a:ln w="12700">
            <a:solidFill>
              <a:srgbClr val="0B1B30"/>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8 / 12  |  RECOVERY"/>
          <p:cNvSpPr/>
          <p:nvPr/>
        </p:nvSpPr>
        <p:spPr>
          <a:xfrm>
            <a:off x="8229600" y="6336792"/>
            <a:ext cx="2377440" cy="274320"/>
          </a:xfrm>
          <a:prstGeom prst="roundRect">
            <a:avLst>
              <a:gd name="adj" fmla="val 26667"/>
            </a:avLst>
          </a:prstGeom>
          <a:solidFill>
            <a:srgbClr val="34D399"/>
          </a:solidFill>
          <a:ln w="12700">
            <a:solidFill>
              <a:srgbClr val="34D399"/>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8 / 12  |  RECOVERY</a:t>
            </a:r>
            <a:endParaRPr lang="en-US" sz="1100" dirty="0"/>
          </a:p>
        </p:txBody>
      </p:sp>
      <p:sp>
        <p:nvSpPr>
          <p:cNvPr id="17" name="Col 0"/>
          <p:cNvSpPr/>
          <p:nvPr/>
        </p:nvSpPr>
        <p:spPr>
          <a:xfrm>
            <a:off x="548640" y="1463040"/>
            <a:ext cx="3520440" cy="3749040"/>
          </a:xfrm>
          <a:prstGeom prst="roundRect">
            <a:avLst>
              <a:gd name="adj" fmla="val 3117"/>
            </a:avLst>
          </a:prstGeom>
          <a:solidFill>
            <a:srgbClr val="081525"/>
          </a:solidFill>
          <a:ln w="12700">
            <a:solidFill>
              <a:srgbClr val="1C4566"/>
            </a:solidFill>
            <a:prstDash val="solid"/>
          </a:ln>
        </p:spPr>
      </p:sp>
      <p:sp>
        <p:nvSpPr>
          <p:cNvPr id="18" name="Chip DOCUMENTED: M&amp;S"/>
          <p:cNvSpPr/>
          <p:nvPr/>
        </p:nvSpPr>
        <p:spPr>
          <a:xfrm>
            <a:off x="822960" y="1737360"/>
            <a:ext cx="1828800" cy="274320"/>
          </a:xfrm>
          <a:prstGeom prst="roundRect">
            <a:avLst>
              <a:gd name="adj" fmla="val 26667"/>
            </a:avLst>
          </a:prstGeom>
          <a:solidFill>
            <a:srgbClr val="34D399"/>
          </a:solidFill>
          <a:ln w="12700">
            <a:solidFill>
              <a:srgbClr val="34D399"/>
            </a:solidFill>
            <a:prstDash val="solid"/>
          </a:ln>
        </p:spPr>
      </p:sp>
      <p:sp>
        <p:nvSpPr>
          <p:cNvPr id="19" name="Text 17"/>
          <p:cNvSpPr txBox="1"/>
          <p:nvPr/>
        </p:nvSpPr>
        <p:spPr>
          <a:xfrm>
            <a:off x="822960" y="1737360"/>
            <a:ext cx="1828800" cy="274320"/>
          </a:xfrm>
          <a:prstGeom prst="rect">
            <a:avLst/>
          </a:prstGeom>
          <a:noFill/>
          <a:ln/>
        </p:spPr>
        <p:txBody>
          <a:bodyPr wrap="square" lIns="0" tIns="0" rIns="0" bIns="0" rtlCol="0" anchor="ctr"/>
          <a:lstStyle/>
          <a:p>
            <a:pPr algn="ctr" indent="0" marL="0">
              <a:buNone/>
            </a:pPr>
            <a:r>
              <a:rPr lang="en-US" sz="1100" b="1" dirty="0">
                <a:solidFill>
                  <a:srgbClr val="02050D"/>
                </a:solidFill>
              </a:rPr>
              <a:t>DOCUMENTED: M&amp;S</a:t>
            </a:r>
            <a:endParaRPr lang="en-US" sz="1100" dirty="0"/>
          </a:p>
        </p:txBody>
      </p:sp>
      <p:sp>
        <p:nvSpPr>
          <p:cNvPr id="20" name="Text 18"/>
          <p:cNvSpPr txBox="1"/>
          <p:nvPr/>
        </p:nvSpPr>
        <p:spPr>
          <a:xfrm>
            <a:off x="822960" y="228600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rPr>
              <a:t>Spotted suspicious activity</a:t>
            </a:r>
            <a:endParaRPr lang="en-US" sz="1500" dirty="0"/>
          </a:p>
          <a:p>
            <a:pPr marL="342900" indent="-342900">
              <a:spcAft>
                <a:spcPts val="800"/>
              </a:spcAft>
              <a:buSzPct val="100000"/>
              <a:buChar char="•"/>
            </a:pPr>
            <a:r>
              <a:rPr lang="en-US" sz="1500" dirty="0">
                <a:solidFill>
                  <a:srgbClr val="FFFFFF"/>
                </a:solidFill>
              </a:rPr>
              <a:t>Brought in outside cyber experts</a:t>
            </a:r>
            <a:endParaRPr lang="en-US" sz="1500" dirty="0"/>
          </a:p>
          <a:p>
            <a:pPr marL="342900" indent="-342900">
              <a:spcAft>
                <a:spcPts val="800"/>
              </a:spcAft>
              <a:buSzPct val="100000"/>
              <a:buChar char="•"/>
            </a:pPr>
            <a:r>
              <a:rPr lang="en-US" sz="1500" dirty="0">
                <a:solidFill>
                  <a:srgbClr val="FFFFFF"/>
                </a:solidFill>
              </a:rPr>
              <a:t>Reported to government and law enforcement</a:t>
            </a:r>
            <a:endParaRPr lang="en-US" sz="1500" dirty="0"/>
          </a:p>
          <a:p>
            <a:pPr marL="342900" indent="-342900">
              <a:spcAft>
                <a:spcPts val="800"/>
              </a:spcAft>
              <a:buSzPct val="100000"/>
              <a:buChar char="•"/>
            </a:pPr>
            <a:r>
              <a:rPr lang="en-US" sz="1500" dirty="0">
                <a:solidFill>
                  <a:srgbClr val="FFFFFF"/>
                </a:solidFill>
              </a:rPr>
              <a:t>Moved some processes offline</a:t>
            </a:r>
            <a:endParaRPr lang="en-US" sz="1500" dirty="0"/>
          </a:p>
          <a:p>
            <a:pPr marL="342900" indent="-342900">
              <a:spcAft>
                <a:spcPts val="800"/>
              </a:spcAft>
              <a:buSzPct val="100000"/>
              <a:buChar char="•"/>
            </a:pPr>
            <a:r>
              <a:rPr lang="en-US" sz="1500" dirty="0">
                <a:solidFill>
                  <a:srgbClr val="FFFFFF"/>
                </a:solidFill>
              </a:rPr>
              <a:t>Scanned ~600 systems; restored gradually</a:t>
            </a:r>
            <a:endParaRPr lang="en-US" sz="1500" dirty="0"/>
          </a:p>
        </p:txBody>
      </p:sp>
      <p:sp>
        <p:nvSpPr>
          <p:cNvPr id="21" name="Col 1"/>
          <p:cNvSpPr/>
          <p:nvPr/>
        </p:nvSpPr>
        <p:spPr>
          <a:xfrm>
            <a:off x="4343400" y="1463040"/>
            <a:ext cx="3520440" cy="3749040"/>
          </a:xfrm>
          <a:prstGeom prst="roundRect">
            <a:avLst>
              <a:gd name="adj" fmla="val 3117"/>
            </a:avLst>
          </a:prstGeom>
          <a:solidFill>
            <a:srgbClr val="081525"/>
          </a:solidFill>
          <a:ln w="12700">
            <a:solidFill>
              <a:srgbClr val="1C4566"/>
            </a:solidFill>
            <a:prstDash val="solid"/>
          </a:ln>
        </p:spPr>
      </p:sp>
      <p:sp>
        <p:nvSpPr>
          <p:cNvPr id="22" name="Chip DOCUMENTED: AUTHORITIES"/>
          <p:cNvSpPr/>
          <p:nvPr/>
        </p:nvSpPr>
        <p:spPr>
          <a:xfrm>
            <a:off x="4617720" y="1737360"/>
            <a:ext cx="2377440" cy="274320"/>
          </a:xfrm>
          <a:prstGeom prst="roundRect">
            <a:avLst>
              <a:gd name="adj" fmla="val 26667"/>
            </a:avLst>
          </a:prstGeom>
          <a:solidFill>
            <a:srgbClr val="22D3EE"/>
          </a:solidFill>
          <a:ln w="12700">
            <a:solidFill>
              <a:srgbClr val="22D3EE"/>
            </a:solidFill>
            <a:prstDash val="solid"/>
          </a:ln>
        </p:spPr>
      </p:sp>
      <p:sp>
        <p:nvSpPr>
          <p:cNvPr id="23" name="Text 21"/>
          <p:cNvSpPr txBox="1"/>
          <p:nvPr/>
        </p:nvSpPr>
        <p:spPr>
          <a:xfrm>
            <a:off x="4617720" y="1737360"/>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DOCUMENTED: AUTHORITIES</a:t>
            </a:r>
            <a:endParaRPr lang="en-US" sz="1100" dirty="0"/>
          </a:p>
        </p:txBody>
      </p:sp>
      <p:sp>
        <p:nvSpPr>
          <p:cNvPr id="24" name="Text 22"/>
          <p:cNvSpPr txBox="1"/>
          <p:nvPr/>
        </p:nvSpPr>
        <p:spPr>
          <a:xfrm>
            <a:off x="4617720" y="228600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rPr>
              <a:t>ICO received reports from M&amp;S and the Co-op (2 May)</a:t>
            </a:r>
            <a:endParaRPr lang="en-US" sz="1500" dirty="0"/>
          </a:p>
          <a:p>
            <a:pPr marL="342900" indent="-342900">
              <a:spcAft>
                <a:spcPts val="800"/>
              </a:spcAft>
              <a:buSzPct val="100000"/>
              <a:buChar char="•"/>
            </a:pPr>
            <a:r>
              <a:rPr lang="en-US" sz="1500" dirty="0">
                <a:solidFill>
                  <a:srgbClr val="FFFFFF"/>
                </a:solidFill>
              </a:rPr>
              <a:t>ICO working with the NCSC</a:t>
            </a:r>
            <a:endParaRPr lang="en-US" sz="1500" dirty="0"/>
          </a:p>
          <a:p>
            <a:pPr marL="342900" indent="-342900">
              <a:spcAft>
                <a:spcPts val="800"/>
              </a:spcAft>
              <a:buSzPct val="100000"/>
              <a:buChar char="•"/>
            </a:pPr>
            <a:r>
              <a:rPr lang="en-US" sz="1500" dirty="0">
                <a:solidFill>
                  <a:srgbClr val="FFFFFF"/>
                </a:solidFill>
              </a:rPr>
              <a:t>NCA investigating, per Reuters</a:t>
            </a:r>
            <a:endParaRPr lang="en-US" sz="1500" dirty="0"/>
          </a:p>
        </p:txBody>
      </p:sp>
      <p:sp>
        <p:nvSpPr>
          <p:cNvPr id="25" name="Col 2"/>
          <p:cNvSpPr/>
          <p:nvPr/>
        </p:nvSpPr>
        <p:spPr>
          <a:xfrm>
            <a:off x="8138160" y="1463040"/>
            <a:ext cx="3520440" cy="3749040"/>
          </a:xfrm>
          <a:prstGeom prst="roundRect">
            <a:avLst>
              <a:gd name="adj" fmla="val 3117"/>
            </a:avLst>
          </a:prstGeom>
          <a:solidFill>
            <a:srgbClr val="081525"/>
          </a:solidFill>
          <a:ln w="12700">
            <a:solidFill>
              <a:srgbClr val="1C4566"/>
            </a:solidFill>
            <a:prstDash val="solid"/>
          </a:ln>
        </p:spPr>
      </p:sp>
      <p:sp>
        <p:nvSpPr>
          <p:cNvPr id="26" name="Chip RECOMMENDED PRACTICE"/>
          <p:cNvSpPr/>
          <p:nvPr/>
        </p:nvSpPr>
        <p:spPr>
          <a:xfrm>
            <a:off x="8412480" y="1737360"/>
            <a:ext cx="1828800" cy="274320"/>
          </a:xfrm>
          <a:prstGeom prst="roundRect">
            <a:avLst>
              <a:gd name="adj" fmla="val 26667"/>
            </a:avLst>
          </a:prstGeom>
          <a:solidFill>
            <a:srgbClr val="FBBF24"/>
          </a:solidFill>
          <a:ln w="12700">
            <a:solidFill>
              <a:srgbClr val="FBBF24"/>
            </a:solidFill>
            <a:prstDash val="solid"/>
          </a:ln>
        </p:spPr>
      </p:sp>
      <p:sp>
        <p:nvSpPr>
          <p:cNvPr id="27" name="Text 25"/>
          <p:cNvSpPr txBox="1"/>
          <p:nvPr/>
        </p:nvSpPr>
        <p:spPr>
          <a:xfrm>
            <a:off x="8412480" y="1737360"/>
            <a:ext cx="1828800" cy="274320"/>
          </a:xfrm>
          <a:prstGeom prst="rect">
            <a:avLst/>
          </a:prstGeom>
          <a:noFill/>
          <a:ln/>
        </p:spPr>
        <p:txBody>
          <a:bodyPr wrap="square" lIns="0" tIns="0" rIns="0" bIns="0" rtlCol="0" anchor="ctr"/>
          <a:lstStyle/>
          <a:p>
            <a:pPr algn="ctr" indent="0" marL="0">
              <a:buNone/>
            </a:pPr>
            <a:r>
              <a:rPr lang="en-US" sz="1100" b="1" dirty="0">
                <a:solidFill>
                  <a:srgbClr val="02050D"/>
                </a:solidFill>
              </a:rPr>
              <a:t>RECOMMENDED PRACTICE</a:t>
            </a:r>
            <a:endParaRPr lang="en-US" sz="1100" dirty="0"/>
          </a:p>
        </p:txBody>
      </p:sp>
      <p:sp>
        <p:nvSpPr>
          <p:cNvPr id="28" name="Text 26"/>
          <p:cNvSpPr txBox="1"/>
          <p:nvPr/>
        </p:nvSpPr>
        <p:spPr>
          <a:xfrm>
            <a:off x="8412480" y="2286000"/>
            <a:ext cx="3017520" cy="32918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rPr>
              <a:t>Rehearsed incident-response plan</a:t>
            </a:r>
            <a:endParaRPr lang="en-US" sz="1500" dirty="0"/>
          </a:p>
          <a:p>
            <a:pPr marL="342900" indent="-342900">
              <a:spcAft>
                <a:spcPts val="800"/>
              </a:spcAft>
              <a:buSzPct val="100000"/>
              <a:buChar char="•"/>
            </a:pPr>
            <a:r>
              <a:rPr lang="en-US" sz="1500" dirty="0">
                <a:solidFill>
                  <a:srgbClr val="FFFFFF"/>
                </a:solidFill>
              </a:rPr>
              <a:t>Pre-agreed communications</a:t>
            </a:r>
            <a:endParaRPr lang="en-US" sz="1500" dirty="0"/>
          </a:p>
          <a:p>
            <a:pPr marL="342900" indent="-342900">
              <a:spcAft>
                <a:spcPts val="800"/>
              </a:spcAft>
              <a:buSzPct val="100000"/>
              <a:buChar char="•"/>
            </a:pPr>
            <a:r>
              <a:rPr lang="en-US" sz="1500" dirty="0">
                <a:solidFill>
                  <a:srgbClr val="FFFFFF"/>
                </a:solidFill>
              </a:rPr>
              <a:t>Isolate, then restore from clean backups</a:t>
            </a:r>
            <a:endParaRPr lang="en-US" sz="1500" dirty="0"/>
          </a:p>
          <a:p>
            <a:pPr marL="342900" indent="-342900">
              <a:spcAft>
                <a:spcPts val="800"/>
              </a:spcAft>
              <a:buSzPct val="100000"/>
              <a:buChar char="•"/>
            </a:pPr>
            <a:r>
              <a:rPr lang="en-US" sz="1500" dirty="0">
                <a:solidFill>
                  <a:srgbClr val="FFFFFF"/>
                </a:solidFill>
              </a:rPr>
              <a:t>Preserve logs for forensics</a:t>
            </a:r>
            <a:endParaRPr lang="en-US" sz="1500" dirty="0"/>
          </a:p>
        </p:txBody>
      </p:sp>
      <p:sp>
        <p:nvSpPr>
          <p:cNvPr id="29" name="Text 27"/>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M&amp;S RNS 13 May 2025; ICO 2 May 2025; Reuters 21 May 2025 (right column is the presenter's recommendation)</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Controls that match each risk</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7" name="Progress 5"/>
          <p:cNvSpPr/>
          <p:nvPr/>
        </p:nvSpPr>
        <p:spPr>
          <a:xfrm>
            <a:off x="4251960" y="6729984"/>
            <a:ext cx="880110" cy="45720"/>
          </a:xfrm>
          <a:prstGeom prst="rect">
            <a:avLst/>
          </a:prstGeom>
          <a:solidFill>
            <a:srgbClr val="1C4566"/>
          </a:solidFill>
          <a:ln w="12700">
            <a:solidFill>
              <a:srgbClr val="1C4566"/>
            </a:solidFill>
            <a:prstDash val="solid"/>
          </a:ln>
        </p:spPr>
      </p:sp>
      <p:sp>
        <p:nvSpPr>
          <p:cNvPr id="8" name="Progress 6"/>
          <p:cNvSpPr/>
          <p:nvPr/>
        </p:nvSpPr>
        <p:spPr>
          <a:xfrm>
            <a:off x="5177790" y="6729984"/>
            <a:ext cx="880110" cy="45720"/>
          </a:xfrm>
          <a:prstGeom prst="rect">
            <a:avLst/>
          </a:prstGeom>
          <a:solidFill>
            <a:srgbClr val="1C4566"/>
          </a:solidFill>
          <a:ln w="12700">
            <a:solidFill>
              <a:srgbClr val="1C4566"/>
            </a:solidFill>
            <a:prstDash val="solid"/>
          </a:ln>
        </p:spPr>
      </p:sp>
      <p:sp>
        <p:nvSpPr>
          <p:cNvPr id="9" name="Progress 7"/>
          <p:cNvSpPr/>
          <p:nvPr/>
        </p:nvSpPr>
        <p:spPr>
          <a:xfrm>
            <a:off x="6103620" y="6729984"/>
            <a:ext cx="880110" cy="45720"/>
          </a:xfrm>
          <a:prstGeom prst="rect">
            <a:avLst/>
          </a:prstGeom>
          <a:solidFill>
            <a:srgbClr val="1C4566"/>
          </a:solidFill>
          <a:ln w="12700">
            <a:solidFill>
              <a:srgbClr val="1C4566"/>
            </a:solidFill>
            <a:prstDash val="solid"/>
          </a:ln>
        </p:spPr>
      </p:sp>
      <p:sp>
        <p:nvSpPr>
          <p:cNvPr id="10" name="Progress 8"/>
          <p:cNvSpPr/>
          <p:nvPr/>
        </p:nvSpPr>
        <p:spPr>
          <a:xfrm>
            <a:off x="7029450" y="6729984"/>
            <a:ext cx="880110" cy="45720"/>
          </a:xfrm>
          <a:prstGeom prst="rect">
            <a:avLst/>
          </a:prstGeom>
          <a:solidFill>
            <a:srgbClr val="1C4566"/>
          </a:solidFill>
          <a:ln w="12700">
            <a:solidFill>
              <a:srgbClr val="1C4566"/>
            </a:solidFill>
            <a:prstDash val="solid"/>
          </a:ln>
        </p:spPr>
      </p:sp>
      <p:sp>
        <p:nvSpPr>
          <p:cNvPr id="11" name="Progress 9"/>
          <p:cNvSpPr/>
          <p:nvPr/>
        </p:nvSpPr>
        <p:spPr>
          <a:xfrm>
            <a:off x="7955280" y="6729984"/>
            <a:ext cx="880110" cy="45720"/>
          </a:xfrm>
          <a:prstGeom prst="rect">
            <a:avLst/>
          </a:prstGeom>
          <a:solidFill>
            <a:srgbClr val="22D3EE"/>
          </a:solidFill>
          <a:ln w="12700">
            <a:solidFill>
              <a:srgbClr val="22D3EE"/>
            </a:solidFill>
            <a:prstDash val="solid"/>
          </a:ln>
        </p:spPr>
      </p:sp>
      <p:sp>
        <p:nvSpPr>
          <p:cNvPr id="12" name="Progress 10"/>
          <p:cNvSpPr/>
          <p:nvPr/>
        </p:nvSpPr>
        <p:spPr>
          <a:xfrm>
            <a:off x="8881110" y="6729984"/>
            <a:ext cx="880110" cy="45720"/>
          </a:xfrm>
          <a:prstGeom prst="rect">
            <a:avLst/>
          </a:prstGeom>
          <a:solidFill>
            <a:srgbClr val="0B1B30"/>
          </a:solidFill>
          <a:ln w="12700">
            <a:solidFill>
              <a:srgbClr val="0B1B30"/>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9 / 12  |  CONTROLS"/>
          <p:cNvSpPr/>
          <p:nvPr/>
        </p:nvSpPr>
        <p:spPr>
          <a:xfrm>
            <a:off x="8229600" y="6336792"/>
            <a:ext cx="2377440" cy="274320"/>
          </a:xfrm>
          <a:prstGeom prst="roundRect">
            <a:avLst>
              <a:gd name="adj" fmla="val 26667"/>
            </a:avLst>
          </a:prstGeom>
          <a:solidFill>
            <a:srgbClr val="22D3EE"/>
          </a:solidFill>
          <a:ln w="12700">
            <a:solidFill>
              <a:srgbClr val="22D3EE"/>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9 / 12  |  CONTROLS</a:t>
            </a:r>
            <a:endParaRPr lang="en-US" sz="1100" dirty="0"/>
          </a:p>
        </p:txBody>
      </p:sp>
      <p:graphicFrame>
        <p:nvGraphicFramePr>
          <p:cNvPr id="10" name="Risk control table"/>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4572000"/>
                <a:gridCol w="6537960"/>
              </a:tblGrid>
              <a:tr h="530352">
                <a:tc>
                  <a:txBody>
                    <a:bodyPr/>
                    <a:lstStyle/>
                    <a:p>
                      <a:pPr indent="0" marL="0">
                        <a:buNone/>
                      </a:pPr>
                      <a:r>
                        <a:rPr lang="en-US" sz="1400" b="1" dirty="0">
                          <a:solidFill>
                            <a:srgbClr val="22D3EE"/>
                          </a:solidFill>
                        </a:rPr>
                        <a:t>RISK</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F2A44"/>
                    </a:solidFill>
                  </a:tcPr>
                </a:tc>
                <a:tc>
                  <a:txBody>
                    <a:bodyPr/>
                    <a:lstStyle/>
                    <a:p>
                      <a:pPr indent="0" marL="0">
                        <a:buNone/>
                      </a:pPr>
                      <a:r>
                        <a:rPr lang="en-US" sz="1400" b="1" dirty="0">
                          <a:solidFill>
                            <a:srgbClr val="22D3EE"/>
                          </a:solidFill>
                        </a:rPr>
                        <a:t>CONTROL (RECOMMENDATION)</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F2A44"/>
                    </a:solidFill>
                  </a:tcPr>
                </a:tc>
              </a:tr>
              <a:tr h="530352">
                <a:tc>
                  <a:txBody>
                    <a:bodyPr/>
                    <a:lstStyle/>
                    <a:p>
                      <a:pPr indent="0" marL="0">
                        <a:buNone/>
                      </a:pPr>
                      <a:r>
                        <a:rPr lang="en-US" sz="1400" dirty="0">
                          <a:solidFill>
                            <a:srgbClr val="FFFFFF"/>
                          </a:solidFill>
                        </a:rPr>
                        <a:t>Weak caller verification at the service desk</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c>
                  <a:txBody>
                    <a:bodyPr/>
                    <a:lstStyle/>
                    <a:p>
                      <a:pPr indent="0" marL="0">
                        <a:buNone/>
                      </a:pPr>
                      <a:r>
                        <a:rPr lang="en-US" sz="1400" dirty="0">
                          <a:solidFill>
                            <a:srgbClr val="FFFFFF"/>
                          </a:solidFill>
                        </a:rPr>
                        <a:t>Strong identity proofing and call-back before any reset</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r>
              <a:tr h="530352">
                <a:tc>
                  <a:txBody>
                    <a:bodyPr/>
                    <a:lstStyle/>
                    <a:p>
                      <a:pPr indent="0" marL="0">
                        <a:buNone/>
                      </a:pPr>
                      <a:r>
                        <a:rPr lang="en-US" sz="1400" dirty="0">
                          <a:solidFill>
                            <a:srgbClr val="FFFFFF"/>
                          </a:solidFill>
                        </a:rPr>
                        <a:t>MFA bypassed through a reset</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c>
                  <a:txBody>
                    <a:bodyPr/>
                    <a:lstStyle/>
                    <a:p>
                      <a:pPr indent="0" marL="0">
                        <a:buNone/>
                      </a:pPr>
                      <a:r>
                        <a:rPr lang="en-US" sz="1400" dirty="0">
                          <a:solidFill>
                            <a:srgbClr val="FFFFFF"/>
                          </a:solidFill>
                        </a:rPr>
                        <a:t>Phishing-resistant MFA (FIDO2); approval for MFA changes</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r>
              <a:tr h="530352">
                <a:tc>
                  <a:txBody>
                    <a:bodyPr/>
                    <a:lstStyle/>
                    <a:p>
                      <a:pPr indent="0" marL="0">
                        <a:buNone/>
                      </a:pPr>
                      <a:r>
                        <a:rPr lang="en-US" sz="1400" dirty="0">
                          <a:solidFill>
                            <a:srgbClr val="FFFFFF"/>
                          </a:solidFill>
                        </a:rPr>
                        <a:t>Over-privileged accounts</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c>
                  <a:txBody>
                    <a:bodyPr/>
                    <a:lstStyle/>
                    <a:p>
                      <a:pPr indent="0" marL="0">
                        <a:buNone/>
                      </a:pPr>
                      <a:r>
                        <a:rPr lang="en-US" sz="1400" dirty="0">
                          <a:solidFill>
                            <a:srgbClr val="FFFFFF"/>
                          </a:solidFill>
                        </a:rPr>
                        <a:t>Least privilege and privileged-access management</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r>
              <a:tr h="530352">
                <a:tc>
                  <a:txBody>
                    <a:bodyPr/>
                    <a:lstStyle/>
                    <a:p>
                      <a:pPr indent="0" marL="0">
                        <a:buNone/>
                      </a:pPr>
                      <a:r>
                        <a:rPr lang="en-US" sz="1400" dirty="0">
                          <a:solidFill>
                            <a:srgbClr val="FFFFFF"/>
                          </a:solidFill>
                        </a:rPr>
                        <a:t>Third-party contractor access</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c>
                  <a:txBody>
                    <a:bodyPr/>
                    <a:lstStyle/>
                    <a:p>
                      <a:pPr indent="0" marL="0">
                        <a:buNone/>
                      </a:pPr>
                      <a:r>
                        <a:rPr lang="en-US" sz="1400" dirty="0">
                          <a:solidFill>
                            <a:srgbClr val="FFFFFF"/>
                          </a:solidFill>
                        </a:rPr>
                        <a:t>Vendor assessments; restricted, monitored access</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r>
              <a:tr h="530352">
                <a:tc>
                  <a:txBody>
                    <a:bodyPr/>
                    <a:lstStyle/>
                    <a:p>
                      <a:pPr indent="0" marL="0">
                        <a:buNone/>
                      </a:pPr>
                      <a:r>
                        <a:rPr lang="en-US" sz="1400" dirty="0">
                          <a:solidFill>
                            <a:srgbClr val="FFFFFF"/>
                          </a:solidFill>
                        </a:rPr>
                        <a:t>Lateral movement and ransomware spread</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c>
                  <a:txBody>
                    <a:bodyPr/>
                    <a:lstStyle/>
                    <a:p>
                      <a:pPr indent="0" marL="0">
                        <a:buNone/>
                      </a:pPr>
                      <a:r>
                        <a:rPr lang="en-US" sz="1400" dirty="0">
                          <a:solidFill>
                            <a:srgbClr val="FFFFFF"/>
                          </a:solidFill>
                        </a:rPr>
                        <a:t>Network segmentation and tested offline backups</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r>
              <a:tr h="530352">
                <a:tc>
                  <a:txBody>
                    <a:bodyPr/>
                    <a:lstStyle/>
                    <a:p>
                      <a:pPr indent="0" marL="0">
                        <a:buNone/>
                      </a:pPr>
                      <a:r>
                        <a:rPr lang="en-US" sz="1400" dirty="0">
                          <a:solidFill>
                            <a:srgbClr val="FFFFFF"/>
                          </a:solidFill>
                        </a:rPr>
                        <a:t>Slow detection of misuse</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c>
                  <a:txBody>
                    <a:bodyPr/>
                    <a:lstStyle/>
                    <a:p>
                      <a:pPr indent="0" marL="0">
                        <a:buNone/>
                      </a:pPr>
                      <a:r>
                        <a:rPr lang="en-US" sz="1400" dirty="0">
                          <a:solidFill>
                            <a:srgbClr val="FFFFFF"/>
                          </a:solidFill>
                        </a:rPr>
                        <a:t>Centralized logging, alerting and monitoring</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r>
              <a:tr h="530352">
                <a:tc>
                  <a:txBody>
                    <a:bodyPr/>
                    <a:lstStyle/>
                    <a:p>
                      <a:pPr indent="0" marL="0">
                        <a:buNone/>
                      </a:pPr>
                      <a:r>
                        <a:rPr lang="en-US" sz="1400" dirty="0">
                          <a:solidFill>
                            <a:srgbClr val="FFFFFF"/>
                          </a:solidFill>
                        </a:rPr>
                        <a:t>Human error and unprepared response</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c>
                  <a:txBody>
                    <a:bodyPr/>
                    <a:lstStyle/>
                    <a:p>
                      <a:pPr indent="0" marL="0">
                        <a:buNone/>
                      </a:pPr>
                      <a:r>
                        <a:rPr lang="en-US" sz="1400" dirty="0">
                          <a:solidFill>
                            <a:srgbClr val="FFFFFF"/>
                          </a:solidFill>
                        </a:rPr>
                        <a:t>Awareness training; incident-response and continuity exercises</a:t>
                      </a:r>
                      <a:endParaRPr lang="en-US" sz="1400" dirty="0"/>
                    </a:p>
                  </a:txBody>
                  <a:tcPr marL="109728" marR="109728" marT="0" marB="0" anchor="ctr">
                    <a:lnL w="12700" cap="flat" cmpd="sng" algn="ctr">
                      <a:solidFill>
                        <a:srgbClr val="1C4566"/>
                      </a:solidFill>
                      <a:prstDash val="solid"/>
                      <a:round/>
                      <a:headEnd type="none" w="med" len="med"/>
                      <a:tailEnd type="none" w="med" len="med"/>
                    </a:lnL>
                    <a:lnR w="12700" cap="flat" cmpd="sng" algn="ctr">
                      <a:solidFill>
                        <a:srgbClr val="1C4566"/>
                      </a:solidFill>
                      <a:prstDash val="solid"/>
                      <a:round/>
                      <a:headEnd type="none" w="med" len="med"/>
                      <a:tailEnd type="none" w="med" len="med"/>
                    </a:lnR>
                    <a:lnT w="12700" cap="flat" cmpd="sng" algn="ctr">
                      <a:solidFill>
                        <a:srgbClr val="1C4566"/>
                      </a:solidFill>
                      <a:prstDash val="solid"/>
                      <a:round/>
                      <a:headEnd type="none" w="med" len="med"/>
                      <a:tailEnd type="none" w="med" len="med"/>
                    </a:lnT>
                    <a:lnB w="12700" cap="flat" cmpd="sng" algn="ctr">
                      <a:solidFill>
                        <a:srgbClr val="1C4566"/>
                      </a:solidFill>
                      <a:prstDash val="solid"/>
                      <a:round/>
                      <a:headEnd type="none" w="med" len="med"/>
                      <a:tailEnd type="none" w="med" len="med"/>
                    </a:lnB>
                    <a:solidFill>
                      <a:srgbClr val="081525"/>
                    </a:solidFill>
                  </a:tcPr>
                </a:tc>
              </a:tr>
            </a:tbl>
          </a:graphicData>
        </a:graphic>
      </p:graphicFrame>
      <p:sp>
        <p:nvSpPr>
          <p:cNvPr id="18" name="Text 15"/>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Presenter's analysis based on Reuters 21 May 2025 and ManageEngine (citing BleepingComputer)</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Lessons for software and data engineers</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7" name="Progress 5"/>
          <p:cNvSpPr/>
          <p:nvPr/>
        </p:nvSpPr>
        <p:spPr>
          <a:xfrm>
            <a:off x="4251960" y="6729984"/>
            <a:ext cx="880110" cy="45720"/>
          </a:xfrm>
          <a:prstGeom prst="rect">
            <a:avLst/>
          </a:prstGeom>
          <a:solidFill>
            <a:srgbClr val="1C4566"/>
          </a:solidFill>
          <a:ln w="12700">
            <a:solidFill>
              <a:srgbClr val="1C4566"/>
            </a:solidFill>
            <a:prstDash val="solid"/>
          </a:ln>
        </p:spPr>
      </p:sp>
      <p:sp>
        <p:nvSpPr>
          <p:cNvPr id="8" name="Progress 6"/>
          <p:cNvSpPr/>
          <p:nvPr/>
        </p:nvSpPr>
        <p:spPr>
          <a:xfrm>
            <a:off x="5177790" y="6729984"/>
            <a:ext cx="880110" cy="45720"/>
          </a:xfrm>
          <a:prstGeom prst="rect">
            <a:avLst/>
          </a:prstGeom>
          <a:solidFill>
            <a:srgbClr val="1C4566"/>
          </a:solidFill>
          <a:ln w="12700">
            <a:solidFill>
              <a:srgbClr val="1C4566"/>
            </a:solidFill>
            <a:prstDash val="solid"/>
          </a:ln>
        </p:spPr>
      </p:sp>
      <p:sp>
        <p:nvSpPr>
          <p:cNvPr id="9" name="Progress 7"/>
          <p:cNvSpPr/>
          <p:nvPr/>
        </p:nvSpPr>
        <p:spPr>
          <a:xfrm>
            <a:off x="6103620" y="6729984"/>
            <a:ext cx="880110" cy="45720"/>
          </a:xfrm>
          <a:prstGeom prst="rect">
            <a:avLst/>
          </a:prstGeom>
          <a:solidFill>
            <a:srgbClr val="1C4566"/>
          </a:solidFill>
          <a:ln w="12700">
            <a:solidFill>
              <a:srgbClr val="1C4566"/>
            </a:solidFill>
            <a:prstDash val="solid"/>
          </a:ln>
        </p:spPr>
      </p:sp>
      <p:sp>
        <p:nvSpPr>
          <p:cNvPr id="10" name="Progress 8"/>
          <p:cNvSpPr/>
          <p:nvPr/>
        </p:nvSpPr>
        <p:spPr>
          <a:xfrm>
            <a:off x="7029450" y="6729984"/>
            <a:ext cx="880110" cy="45720"/>
          </a:xfrm>
          <a:prstGeom prst="rect">
            <a:avLst/>
          </a:prstGeom>
          <a:solidFill>
            <a:srgbClr val="1C4566"/>
          </a:solidFill>
          <a:ln w="12700">
            <a:solidFill>
              <a:srgbClr val="1C4566"/>
            </a:solidFill>
            <a:prstDash val="solid"/>
          </a:ln>
        </p:spPr>
      </p:sp>
      <p:sp>
        <p:nvSpPr>
          <p:cNvPr id="11" name="Progress 9"/>
          <p:cNvSpPr/>
          <p:nvPr/>
        </p:nvSpPr>
        <p:spPr>
          <a:xfrm>
            <a:off x="7955280" y="6729984"/>
            <a:ext cx="880110" cy="45720"/>
          </a:xfrm>
          <a:prstGeom prst="rect">
            <a:avLst/>
          </a:prstGeom>
          <a:solidFill>
            <a:srgbClr val="1C4566"/>
          </a:solidFill>
          <a:ln w="12700">
            <a:solidFill>
              <a:srgbClr val="1C4566"/>
            </a:solidFill>
            <a:prstDash val="solid"/>
          </a:ln>
        </p:spPr>
      </p:sp>
      <p:sp>
        <p:nvSpPr>
          <p:cNvPr id="12" name="Progress 10"/>
          <p:cNvSpPr/>
          <p:nvPr/>
        </p:nvSpPr>
        <p:spPr>
          <a:xfrm>
            <a:off x="8881110" y="6729984"/>
            <a:ext cx="880110" cy="45720"/>
          </a:xfrm>
          <a:prstGeom prst="rect">
            <a:avLst/>
          </a:prstGeom>
          <a:solidFill>
            <a:srgbClr val="22D3EE"/>
          </a:solidFill>
          <a:ln w="12700">
            <a:solidFill>
              <a:srgbClr val="22D3EE"/>
            </a:solidFill>
            <a:prstDash val="solid"/>
          </a:ln>
        </p:spPr>
      </p:sp>
      <p:sp>
        <p:nvSpPr>
          <p:cNvPr id="13" name="Progress 11"/>
          <p:cNvSpPr/>
          <p:nvPr/>
        </p:nvSpPr>
        <p:spPr>
          <a:xfrm>
            <a:off x="9806940" y="6729984"/>
            <a:ext cx="880110" cy="45720"/>
          </a:xfrm>
          <a:prstGeom prst="rect">
            <a:avLst/>
          </a:prstGeom>
          <a:solidFill>
            <a:srgbClr val="0B1B30"/>
          </a:solidFill>
          <a:ln w="12700">
            <a:solidFill>
              <a:srgbClr val="0B1B30"/>
            </a:solidFill>
            <a:prstDash val="solid"/>
          </a:ln>
        </p:spPr>
      </p:sp>
      <p:sp>
        <p:nvSpPr>
          <p:cNvPr id="14"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5" name="Chip 10 / 12  |  LESSONS"/>
          <p:cNvSpPr/>
          <p:nvPr/>
        </p:nvSpPr>
        <p:spPr>
          <a:xfrm>
            <a:off x="8229600" y="6336792"/>
            <a:ext cx="2377440" cy="274320"/>
          </a:xfrm>
          <a:prstGeom prst="roundRect">
            <a:avLst>
              <a:gd name="adj" fmla="val 26667"/>
            </a:avLst>
          </a:prstGeom>
          <a:solidFill>
            <a:srgbClr val="34D399"/>
          </a:solidFill>
          <a:ln w="12700">
            <a:solidFill>
              <a:srgbClr val="34D399"/>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10 / 12  |  LESSONS</a:t>
            </a:r>
            <a:endParaRPr lang="en-US" sz="1100" dirty="0"/>
          </a:p>
        </p:txBody>
      </p:sp>
      <p:sp>
        <p:nvSpPr>
          <p:cNvPr id="17" name="Lesson 1"/>
          <p:cNvSpPr/>
          <p:nvPr/>
        </p:nvSpPr>
        <p:spPr>
          <a:xfrm>
            <a:off x="548640" y="1463040"/>
            <a:ext cx="3520440" cy="2011680"/>
          </a:xfrm>
          <a:prstGeom prst="roundRect">
            <a:avLst>
              <a:gd name="adj" fmla="val 5455"/>
            </a:avLst>
          </a:prstGeom>
          <a:solidFill>
            <a:srgbClr val="081525"/>
          </a:solidFill>
          <a:ln w="12700">
            <a:solidFill>
              <a:srgbClr val="1C4566"/>
            </a:solidFill>
            <a:prstDash val="solid"/>
          </a:ln>
        </p:spPr>
      </p:sp>
      <p:sp>
        <p:nvSpPr>
          <p:cNvPr id="18" name="Icon Secure by design"/>
          <p:cNvSpPr/>
          <p:nvPr/>
        </p:nvSpPr>
        <p:spPr>
          <a:xfrm>
            <a:off x="822960" y="1737360"/>
            <a:ext cx="640080" cy="640080"/>
          </a:xfrm>
          <a:prstGeom prst="ellipse">
            <a:avLst/>
          </a:prstGeom>
          <a:solidFill>
            <a:srgbClr val="22D3EE"/>
          </a:solidFill>
          <a:ln w="12700">
            <a:solidFill>
              <a:srgbClr val="22D3EE"/>
            </a:solidFill>
            <a:prstDash val="solid"/>
          </a:ln>
        </p:spPr>
      </p:sp>
      <p:pic>
        <p:nvPicPr>
          <p:cNvPr id="19" name="Image 0" descr="Icon Secure by design">    </p:cNvPr>
          <p:cNvPicPr>
            <a:picLocks noChangeAspect="1"/>
          </p:cNvPicPr>
          <p:nvPr/>
        </p:nvPicPr>
        <p:blipFill>
          <a:blip r:embed="rId1"/>
          <a:stretch>
            <a:fillRect/>
          </a:stretch>
        </p:blipFill>
        <p:spPr>
          <a:xfrm>
            <a:off x="1002182" y="1916582"/>
            <a:ext cx="281635" cy="281635"/>
          </a:xfrm>
          <a:prstGeom prst="rect">
            <a:avLst/>
          </a:prstGeom>
        </p:spPr>
      </p:pic>
      <p:sp>
        <p:nvSpPr>
          <p:cNvPr id="20" name="Text 17"/>
          <p:cNvSpPr txBox="1"/>
          <p:nvPr/>
        </p:nvSpPr>
        <p:spPr>
          <a:xfrm>
            <a:off x="1645920" y="1783080"/>
            <a:ext cx="2286000" cy="548640"/>
          </a:xfrm>
          <a:prstGeom prst="rect">
            <a:avLst/>
          </a:prstGeom>
          <a:noFill/>
          <a:ln/>
        </p:spPr>
        <p:txBody>
          <a:bodyPr wrap="square" lIns="0" tIns="0" rIns="0" bIns="0" rtlCol="0" anchor="ctr"/>
          <a:lstStyle/>
          <a:p>
            <a:pPr indent="0" marL="0">
              <a:buNone/>
            </a:pPr>
            <a:r>
              <a:rPr lang="en-US" sz="1900" b="1" dirty="0">
                <a:solidFill>
                  <a:srgbClr val="FFFFFF"/>
                </a:solidFill>
              </a:rPr>
              <a:t>Secure by design</a:t>
            </a:r>
            <a:endParaRPr lang="en-US" sz="1900" dirty="0"/>
          </a:p>
        </p:txBody>
      </p:sp>
      <p:sp>
        <p:nvSpPr>
          <p:cNvPr id="21" name="Text 18"/>
          <p:cNvSpPr txBox="1"/>
          <p:nvPr/>
        </p:nvSpPr>
        <p:spPr>
          <a:xfrm>
            <a:off x="822960" y="2560320"/>
            <a:ext cx="3017520" cy="822960"/>
          </a:xfrm>
          <a:prstGeom prst="rect">
            <a:avLst/>
          </a:prstGeom>
          <a:noFill/>
          <a:ln/>
        </p:spPr>
        <p:txBody>
          <a:bodyPr wrap="square" lIns="0" tIns="0" rIns="0" bIns="0" rtlCol="0" anchor="t"/>
          <a:lstStyle/>
          <a:p>
            <a:pPr indent="0" marL="0">
              <a:buNone/>
            </a:pPr>
            <a:r>
              <a:rPr lang="en-US" sz="1400" dirty="0">
                <a:solidFill>
                  <a:srgbClr val="9FB0C8"/>
                </a:solidFill>
              </a:rPr>
              <a:t>Treat account recovery as a high-risk feature</a:t>
            </a:r>
            <a:endParaRPr lang="en-US" sz="1400" dirty="0"/>
          </a:p>
        </p:txBody>
      </p:sp>
      <p:sp>
        <p:nvSpPr>
          <p:cNvPr id="22" name="Lesson 2"/>
          <p:cNvSpPr/>
          <p:nvPr/>
        </p:nvSpPr>
        <p:spPr>
          <a:xfrm>
            <a:off x="4343400" y="1463040"/>
            <a:ext cx="3520440" cy="2011680"/>
          </a:xfrm>
          <a:prstGeom prst="roundRect">
            <a:avLst>
              <a:gd name="adj" fmla="val 5455"/>
            </a:avLst>
          </a:prstGeom>
          <a:solidFill>
            <a:srgbClr val="081525"/>
          </a:solidFill>
          <a:ln w="12700">
            <a:solidFill>
              <a:srgbClr val="1C4566"/>
            </a:solidFill>
            <a:prstDash val="solid"/>
          </a:ln>
        </p:spPr>
      </p:sp>
      <p:sp>
        <p:nvSpPr>
          <p:cNvPr id="23" name="Icon Least privilege"/>
          <p:cNvSpPr/>
          <p:nvPr/>
        </p:nvSpPr>
        <p:spPr>
          <a:xfrm>
            <a:off x="4617720" y="1737360"/>
            <a:ext cx="640080" cy="640080"/>
          </a:xfrm>
          <a:prstGeom prst="ellipse">
            <a:avLst/>
          </a:prstGeom>
          <a:solidFill>
            <a:srgbClr val="22D3EE"/>
          </a:solidFill>
          <a:ln w="12700">
            <a:solidFill>
              <a:srgbClr val="22D3EE"/>
            </a:solidFill>
            <a:prstDash val="solid"/>
          </a:ln>
        </p:spPr>
      </p:sp>
      <p:pic>
        <p:nvPicPr>
          <p:cNvPr id="24" name="Image 1" descr="Icon Least privilege">    </p:cNvPr>
          <p:cNvPicPr>
            <a:picLocks noChangeAspect="1"/>
          </p:cNvPicPr>
          <p:nvPr/>
        </p:nvPicPr>
        <p:blipFill>
          <a:blip r:embed="rId2"/>
          <a:stretch>
            <a:fillRect/>
          </a:stretch>
        </p:blipFill>
        <p:spPr>
          <a:xfrm>
            <a:off x="4796942" y="1916582"/>
            <a:ext cx="281635" cy="281635"/>
          </a:xfrm>
          <a:prstGeom prst="rect">
            <a:avLst/>
          </a:prstGeom>
        </p:spPr>
      </p:pic>
      <p:sp>
        <p:nvSpPr>
          <p:cNvPr id="25" name="Text 21"/>
          <p:cNvSpPr txBox="1"/>
          <p:nvPr/>
        </p:nvSpPr>
        <p:spPr>
          <a:xfrm>
            <a:off x="5440680" y="1783080"/>
            <a:ext cx="2286000" cy="548640"/>
          </a:xfrm>
          <a:prstGeom prst="rect">
            <a:avLst/>
          </a:prstGeom>
          <a:noFill/>
          <a:ln/>
        </p:spPr>
        <p:txBody>
          <a:bodyPr wrap="square" lIns="0" tIns="0" rIns="0" bIns="0" rtlCol="0" anchor="ctr"/>
          <a:lstStyle/>
          <a:p>
            <a:pPr indent="0" marL="0">
              <a:buNone/>
            </a:pPr>
            <a:r>
              <a:rPr lang="en-US" sz="1900" b="1" dirty="0">
                <a:solidFill>
                  <a:srgbClr val="FFFFFF"/>
                </a:solidFill>
              </a:rPr>
              <a:t>Least privilege</a:t>
            </a:r>
            <a:endParaRPr lang="en-US" sz="1900" dirty="0"/>
          </a:p>
        </p:txBody>
      </p:sp>
      <p:sp>
        <p:nvSpPr>
          <p:cNvPr id="26" name="Text 22"/>
          <p:cNvSpPr txBox="1"/>
          <p:nvPr/>
        </p:nvSpPr>
        <p:spPr>
          <a:xfrm>
            <a:off x="4617720" y="2560320"/>
            <a:ext cx="3017520" cy="822960"/>
          </a:xfrm>
          <a:prstGeom prst="rect">
            <a:avLst/>
          </a:prstGeom>
          <a:noFill/>
          <a:ln/>
        </p:spPr>
        <p:txBody>
          <a:bodyPr wrap="square" lIns="0" tIns="0" rIns="0" bIns="0" rtlCol="0" anchor="t"/>
          <a:lstStyle/>
          <a:p>
            <a:pPr indent="0" marL="0">
              <a:buNone/>
            </a:pPr>
            <a:r>
              <a:rPr lang="en-US" sz="1400" dirty="0">
                <a:solidFill>
                  <a:srgbClr val="9FB0C8"/>
                </a:solidFill>
              </a:rPr>
              <a:t>Scope service and admin accounts tightly</a:t>
            </a:r>
            <a:endParaRPr lang="en-US" sz="1400" dirty="0"/>
          </a:p>
        </p:txBody>
      </p:sp>
      <p:sp>
        <p:nvSpPr>
          <p:cNvPr id="27" name="Lesson 3"/>
          <p:cNvSpPr/>
          <p:nvPr/>
        </p:nvSpPr>
        <p:spPr>
          <a:xfrm>
            <a:off x="8138160" y="1463040"/>
            <a:ext cx="3520440" cy="2011680"/>
          </a:xfrm>
          <a:prstGeom prst="roundRect">
            <a:avLst>
              <a:gd name="adj" fmla="val 5455"/>
            </a:avLst>
          </a:prstGeom>
          <a:solidFill>
            <a:srgbClr val="081525"/>
          </a:solidFill>
          <a:ln w="12700">
            <a:solidFill>
              <a:srgbClr val="1C4566"/>
            </a:solidFill>
            <a:prstDash val="solid"/>
          </a:ln>
        </p:spPr>
      </p:sp>
      <p:sp>
        <p:nvSpPr>
          <p:cNvPr id="28" name="Icon Data minimization"/>
          <p:cNvSpPr/>
          <p:nvPr/>
        </p:nvSpPr>
        <p:spPr>
          <a:xfrm>
            <a:off x="8412480" y="1737360"/>
            <a:ext cx="640080" cy="640080"/>
          </a:xfrm>
          <a:prstGeom prst="ellipse">
            <a:avLst/>
          </a:prstGeom>
          <a:solidFill>
            <a:srgbClr val="22D3EE"/>
          </a:solidFill>
          <a:ln w="12700">
            <a:solidFill>
              <a:srgbClr val="22D3EE"/>
            </a:solidFill>
            <a:prstDash val="solid"/>
          </a:ln>
        </p:spPr>
      </p:sp>
      <p:pic>
        <p:nvPicPr>
          <p:cNvPr id="29" name="Image 2" descr="Icon Data minimization">    </p:cNvPr>
          <p:cNvPicPr>
            <a:picLocks noChangeAspect="1"/>
          </p:cNvPicPr>
          <p:nvPr/>
        </p:nvPicPr>
        <p:blipFill>
          <a:blip r:embed="rId3"/>
          <a:stretch>
            <a:fillRect/>
          </a:stretch>
        </p:blipFill>
        <p:spPr>
          <a:xfrm>
            <a:off x="8591702" y="1916582"/>
            <a:ext cx="281635" cy="281635"/>
          </a:xfrm>
          <a:prstGeom prst="rect">
            <a:avLst/>
          </a:prstGeom>
        </p:spPr>
      </p:pic>
      <p:sp>
        <p:nvSpPr>
          <p:cNvPr id="30" name="Text 25"/>
          <p:cNvSpPr txBox="1"/>
          <p:nvPr/>
        </p:nvSpPr>
        <p:spPr>
          <a:xfrm>
            <a:off x="9235440" y="1783080"/>
            <a:ext cx="2286000" cy="548640"/>
          </a:xfrm>
          <a:prstGeom prst="rect">
            <a:avLst/>
          </a:prstGeom>
          <a:noFill/>
          <a:ln/>
        </p:spPr>
        <p:txBody>
          <a:bodyPr wrap="square" lIns="0" tIns="0" rIns="0" bIns="0" rtlCol="0" anchor="ctr"/>
          <a:lstStyle/>
          <a:p>
            <a:pPr indent="0" marL="0">
              <a:buNone/>
            </a:pPr>
            <a:r>
              <a:rPr lang="en-US" sz="1900" b="1" dirty="0">
                <a:solidFill>
                  <a:srgbClr val="FFFFFF"/>
                </a:solidFill>
              </a:rPr>
              <a:t>Data minimization</a:t>
            </a:r>
            <a:endParaRPr lang="en-US" sz="1900" dirty="0"/>
          </a:p>
        </p:txBody>
      </p:sp>
      <p:sp>
        <p:nvSpPr>
          <p:cNvPr id="31" name="Text 26"/>
          <p:cNvSpPr txBox="1"/>
          <p:nvPr/>
        </p:nvSpPr>
        <p:spPr>
          <a:xfrm>
            <a:off x="8412480" y="2560320"/>
            <a:ext cx="3017520" cy="822960"/>
          </a:xfrm>
          <a:prstGeom prst="rect">
            <a:avLst/>
          </a:prstGeom>
          <a:noFill/>
          <a:ln/>
        </p:spPr>
        <p:txBody>
          <a:bodyPr wrap="square" lIns="0" tIns="0" rIns="0" bIns="0" rtlCol="0" anchor="t"/>
          <a:lstStyle/>
          <a:p>
            <a:pPr indent="0" marL="0">
              <a:buNone/>
            </a:pPr>
            <a:r>
              <a:rPr lang="en-US" sz="1400" dirty="0">
                <a:solidFill>
                  <a:srgbClr val="9FB0C8"/>
                </a:solidFill>
              </a:rPr>
              <a:t>Hold less data; M&amp;S said it holds no usable card details</a:t>
            </a:r>
            <a:endParaRPr lang="en-US" sz="1400" dirty="0"/>
          </a:p>
        </p:txBody>
      </p:sp>
      <p:sp>
        <p:nvSpPr>
          <p:cNvPr id="32" name="Lesson 4"/>
          <p:cNvSpPr/>
          <p:nvPr/>
        </p:nvSpPr>
        <p:spPr>
          <a:xfrm>
            <a:off x="548640" y="3657600"/>
            <a:ext cx="3520440" cy="2011680"/>
          </a:xfrm>
          <a:prstGeom prst="roundRect">
            <a:avLst>
              <a:gd name="adj" fmla="val 5455"/>
            </a:avLst>
          </a:prstGeom>
          <a:solidFill>
            <a:srgbClr val="081525"/>
          </a:solidFill>
          <a:ln w="12700">
            <a:solidFill>
              <a:srgbClr val="1C4566"/>
            </a:solidFill>
            <a:prstDash val="solid"/>
          </a:ln>
        </p:spPr>
      </p:sp>
      <p:sp>
        <p:nvSpPr>
          <p:cNvPr id="33" name="Icon Logging and detection"/>
          <p:cNvSpPr/>
          <p:nvPr/>
        </p:nvSpPr>
        <p:spPr>
          <a:xfrm>
            <a:off x="822960" y="3931920"/>
            <a:ext cx="640080" cy="640080"/>
          </a:xfrm>
          <a:prstGeom prst="ellipse">
            <a:avLst/>
          </a:prstGeom>
          <a:solidFill>
            <a:srgbClr val="22D3EE"/>
          </a:solidFill>
          <a:ln w="12700">
            <a:solidFill>
              <a:srgbClr val="22D3EE"/>
            </a:solidFill>
            <a:prstDash val="solid"/>
          </a:ln>
        </p:spPr>
      </p:sp>
      <p:pic>
        <p:nvPicPr>
          <p:cNvPr id="34" name="Image 3" descr="Icon Logging and detection">    </p:cNvPr>
          <p:cNvPicPr>
            <a:picLocks noChangeAspect="1"/>
          </p:cNvPicPr>
          <p:nvPr/>
        </p:nvPicPr>
        <p:blipFill>
          <a:blip r:embed="rId4"/>
          <a:stretch>
            <a:fillRect/>
          </a:stretch>
        </p:blipFill>
        <p:spPr>
          <a:xfrm>
            <a:off x="1002182" y="4111142"/>
            <a:ext cx="281635" cy="281635"/>
          </a:xfrm>
          <a:prstGeom prst="rect">
            <a:avLst/>
          </a:prstGeom>
        </p:spPr>
      </p:pic>
      <p:sp>
        <p:nvSpPr>
          <p:cNvPr id="35" name="Text 29"/>
          <p:cNvSpPr txBox="1"/>
          <p:nvPr/>
        </p:nvSpPr>
        <p:spPr>
          <a:xfrm>
            <a:off x="1645920" y="3977640"/>
            <a:ext cx="2286000" cy="548640"/>
          </a:xfrm>
          <a:prstGeom prst="rect">
            <a:avLst/>
          </a:prstGeom>
          <a:noFill/>
          <a:ln/>
        </p:spPr>
        <p:txBody>
          <a:bodyPr wrap="square" lIns="0" tIns="0" rIns="0" bIns="0" rtlCol="0" anchor="ctr"/>
          <a:lstStyle/>
          <a:p>
            <a:pPr indent="0" marL="0">
              <a:buNone/>
            </a:pPr>
            <a:r>
              <a:rPr lang="en-US" sz="1900" b="1" dirty="0">
                <a:solidFill>
                  <a:srgbClr val="FFFFFF"/>
                </a:solidFill>
              </a:rPr>
              <a:t>Logging and detection</a:t>
            </a:r>
            <a:endParaRPr lang="en-US" sz="1900" dirty="0"/>
          </a:p>
        </p:txBody>
      </p:sp>
      <p:sp>
        <p:nvSpPr>
          <p:cNvPr id="36" name="Text 30"/>
          <p:cNvSpPr txBox="1"/>
          <p:nvPr/>
        </p:nvSpPr>
        <p:spPr>
          <a:xfrm>
            <a:off x="822960" y="4754880"/>
            <a:ext cx="3017520" cy="822960"/>
          </a:xfrm>
          <a:prstGeom prst="rect">
            <a:avLst/>
          </a:prstGeom>
          <a:noFill/>
          <a:ln/>
        </p:spPr>
        <p:txBody>
          <a:bodyPr wrap="square" lIns="0" tIns="0" rIns="0" bIns="0" rtlCol="0" anchor="t"/>
          <a:lstStyle/>
          <a:p>
            <a:pPr indent="0" marL="0">
              <a:buNone/>
            </a:pPr>
            <a:r>
              <a:rPr lang="en-US" sz="1400" dirty="0">
                <a:solidFill>
                  <a:srgbClr val="9FB0C8"/>
                </a:solidFill>
              </a:rPr>
              <a:t>Centralize audit logs; alert on resets and privilege changes</a:t>
            </a:r>
            <a:endParaRPr lang="en-US" sz="1400" dirty="0"/>
          </a:p>
        </p:txBody>
      </p:sp>
      <p:sp>
        <p:nvSpPr>
          <p:cNvPr id="37" name="Lesson 5"/>
          <p:cNvSpPr/>
          <p:nvPr/>
        </p:nvSpPr>
        <p:spPr>
          <a:xfrm>
            <a:off x="4343400" y="3657600"/>
            <a:ext cx="3520440" cy="2011680"/>
          </a:xfrm>
          <a:prstGeom prst="roundRect">
            <a:avLst>
              <a:gd name="adj" fmla="val 5455"/>
            </a:avLst>
          </a:prstGeom>
          <a:solidFill>
            <a:srgbClr val="081525"/>
          </a:solidFill>
          <a:ln w="12700">
            <a:solidFill>
              <a:srgbClr val="1C4566"/>
            </a:solidFill>
            <a:prstDash val="solid"/>
          </a:ln>
        </p:spPr>
      </p:sp>
      <p:sp>
        <p:nvSpPr>
          <p:cNvPr id="38" name="Icon Resilient architecture"/>
          <p:cNvSpPr/>
          <p:nvPr/>
        </p:nvSpPr>
        <p:spPr>
          <a:xfrm>
            <a:off x="4617720" y="3931920"/>
            <a:ext cx="640080" cy="640080"/>
          </a:xfrm>
          <a:prstGeom prst="ellipse">
            <a:avLst/>
          </a:prstGeom>
          <a:solidFill>
            <a:srgbClr val="22D3EE"/>
          </a:solidFill>
          <a:ln w="12700">
            <a:solidFill>
              <a:srgbClr val="22D3EE"/>
            </a:solidFill>
            <a:prstDash val="solid"/>
          </a:ln>
        </p:spPr>
      </p:sp>
      <p:pic>
        <p:nvPicPr>
          <p:cNvPr id="39" name="Image 4" descr="Icon Resilient architecture">    </p:cNvPr>
          <p:cNvPicPr>
            <a:picLocks noChangeAspect="1"/>
          </p:cNvPicPr>
          <p:nvPr/>
        </p:nvPicPr>
        <p:blipFill>
          <a:blip r:embed="rId5"/>
          <a:stretch>
            <a:fillRect/>
          </a:stretch>
        </p:blipFill>
        <p:spPr>
          <a:xfrm>
            <a:off x="4796942" y="4111142"/>
            <a:ext cx="281635" cy="281635"/>
          </a:xfrm>
          <a:prstGeom prst="rect">
            <a:avLst/>
          </a:prstGeom>
        </p:spPr>
      </p:pic>
      <p:sp>
        <p:nvSpPr>
          <p:cNvPr id="40" name="Text 33"/>
          <p:cNvSpPr txBox="1"/>
          <p:nvPr/>
        </p:nvSpPr>
        <p:spPr>
          <a:xfrm>
            <a:off x="5440680" y="3977640"/>
            <a:ext cx="2286000" cy="548640"/>
          </a:xfrm>
          <a:prstGeom prst="rect">
            <a:avLst/>
          </a:prstGeom>
          <a:noFill/>
          <a:ln/>
        </p:spPr>
        <p:txBody>
          <a:bodyPr wrap="square" lIns="0" tIns="0" rIns="0" bIns="0" rtlCol="0" anchor="ctr"/>
          <a:lstStyle/>
          <a:p>
            <a:pPr indent="0" marL="0">
              <a:buNone/>
            </a:pPr>
            <a:r>
              <a:rPr lang="en-US" sz="1900" b="1" dirty="0">
                <a:solidFill>
                  <a:srgbClr val="FFFFFF"/>
                </a:solidFill>
              </a:rPr>
              <a:t>Resilient architecture</a:t>
            </a:r>
            <a:endParaRPr lang="en-US" sz="1900" dirty="0"/>
          </a:p>
        </p:txBody>
      </p:sp>
      <p:sp>
        <p:nvSpPr>
          <p:cNvPr id="41" name="Text 34"/>
          <p:cNvSpPr txBox="1"/>
          <p:nvPr/>
        </p:nvSpPr>
        <p:spPr>
          <a:xfrm>
            <a:off x="4617720" y="4754880"/>
            <a:ext cx="3017520" cy="822960"/>
          </a:xfrm>
          <a:prstGeom prst="rect">
            <a:avLst/>
          </a:prstGeom>
          <a:noFill/>
          <a:ln/>
        </p:spPr>
        <p:txBody>
          <a:bodyPr wrap="square" lIns="0" tIns="0" rIns="0" bIns="0" rtlCol="0" anchor="t"/>
          <a:lstStyle/>
          <a:p>
            <a:pPr indent="0" marL="0">
              <a:buNone/>
            </a:pPr>
            <a:r>
              <a:rPr lang="en-US" sz="1400" dirty="0">
                <a:solidFill>
                  <a:srgbClr val="9FB0C8"/>
                </a:solidFill>
              </a:rPr>
              <a:t>Segment systems and test restores regularly</a:t>
            </a:r>
            <a:endParaRPr lang="en-US" sz="1400" dirty="0"/>
          </a:p>
        </p:txBody>
      </p:sp>
      <p:sp>
        <p:nvSpPr>
          <p:cNvPr id="42" name="Lesson 6"/>
          <p:cNvSpPr/>
          <p:nvPr/>
        </p:nvSpPr>
        <p:spPr>
          <a:xfrm>
            <a:off x="8138160" y="3657600"/>
            <a:ext cx="3520440" cy="2011680"/>
          </a:xfrm>
          <a:prstGeom prst="roundRect">
            <a:avLst>
              <a:gd name="adj" fmla="val 5455"/>
            </a:avLst>
          </a:prstGeom>
          <a:solidFill>
            <a:srgbClr val="081525"/>
          </a:solidFill>
          <a:ln w="12700">
            <a:solidFill>
              <a:srgbClr val="1C4566"/>
            </a:solidFill>
            <a:prstDash val="solid"/>
          </a:ln>
        </p:spPr>
      </p:sp>
      <p:sp>
        <p:nvSpPr>
          <p:cNvPr id="43" name="Icon Privacy protection"/>
          <p:cNvSpPr/>
          <p:nvPr/>
        </p:nvSpPr>
        <p:spPr>
          <a:xfrm>
            <a:off x="8412480" y="3931920"/>
            <a:ext cx="640080" cy="640080"/>
          </a:xfrm>
          <a:prstGeom prst="ellipse">
            <a:avLst/>
          </a:prstGeom>
          <a:solidFill>
            <a:srgbClr val="22D3EE"/>
          </a:solidFill>
          <a:ln w="12700">
            <a:solidFill>
              <a:srgbClr val="22D3EE"/>
            </a:solidFill>
            <a:prstDash val="solid"/>
          </a:ln>
        </p:spPr>
      </p:sp>
      <p:pic>
        <p:nvPicPr>
          <p:cNvPr id="44" name="Image 5" descr="Icon Privacy protection">    </p:cNvPr>
          <p:cNvPicPr>
            <a:picLocks noChangeAspect="1"/>
          </p:cNvPicPr>
          <p:nvPr/>
        </p:nvPicPr>
        <p:blipFill>
          <a:blip r:embed="rId6"/>
          <a:stretch>
            <a:fillRect/>
          </a:stretch>
        </p:blipFill>
        <p:spPr>
          <a:xfrm>
            <a:off x="8591702" y="4111142"/>
            <a:ext cx="281635" cy="281635"/>
          </a:xfrm>
          <a:prstGeom prst="rect">
            <a:avLst/>
          </a:prstGeom>
        </p:spPr>
      </p:pic>
      <p:sp>
        <p:nvSpPr>
          <p:cNvPr id="45" name="Text 37"/>
          <p:cNvSpPr txBox="1"/>
          <p:nvPr/>
        </p:nvSpPr>
        <p:spPr>
          <a:xfrm>
            <a:off x="9235440" y="3977640"/>
            <a:ext cx="2286000" cy="548640"/>
          </a:xfrm>
          <a:prstGeom prst="rect">
            <a:avLst/>
          </a:prstGeom>
          <a:noFill/>
          <a:ln/>
        </p:spPr>
        <p:txBody>
          <a:bodyPr wrap="square" lIns="0" tIns="0" rIns="0" bIns="0" rtlCol="0" anchor="ctr"/>
          <a:lstStyle/>
          <a:p>
            <a:pPr indent="0" marL="0">
              <a:buNone/>
            </a:pPr>
            <a:r>
              <a:rPr lang="en-US" sz="1900" b="1" dirty="0">
                <a:solidFill>
                  <a:srgbClr val="FFFFFF"/>
                </a:solidFill>
              </a:rPr>
              <a:t>Privacy protection</a:t>
            </a:r>
            <a:endParaRPr lang="en-US" sz="1900" dirty="0"/>
          </a:p>
        </p:txBody>
      </p:sp>
      <p:sp>
        <p:nvSpPr>
          <p:cNvPr id="46" name="Text 38"/>
          <p:cNvSpPr txBox="1"/>
          <p:nvPr/>
        </p:nvSpPr>
        <p:spPr>
          <a:xfrm>
            <a:off x="8412480" y="4754880"/>
            <a:ext cx="3017520" cy="822960"/>
          </a:xfrm>
          <a:prstGeom prst="rect">
            <a:avLst/>
          </a:prstGeom>
          <a:noFill/>
          <a:ln/>
        </p:spPr>
        <p:txBody>
          <a:bodyPr wrap="square" lIns="0" tIns="0" rIns="0" bIns="0" rtlCol="0" anchor="t"/>
          <a:lstStyle/>
          <a:p>
            <a:pPr indent="0" marL="0">
              <a:buNone/>
            </a:pPr>
            <a:r>
              <a:rPr lang="en-US" sz="1400" dirty="0">
                <a:solidFill>
                  <a:srgbClr val="9FB0C8"/>
                </a:solidFill>
              </a:rPr>
              <a:t>Encrypt, limit retention, plan breach notification</a:t>
            </a:r>
            <a:endParaRPr lang="en-US" sz="1400" dirty="0"/>
          </a:p>
        </p:txBody>
      </p:sp>
      <p:sp>
        <p:nvSpPr>
          <p:cNvPr id="47" name="Text 39"/>
          <p:cNvSpPr txBox="1"/>
          <p:nvPr/>
        </p:nvSpPr>
        <p:spPr>
          <a:xfrm>
            <a:off x="548640" y="6035040"/>
            <a:ext cx="10058400" cy="256032"/>
          </a:xfrm>
          <a:prstGeom prst="rect">
            <a:avLst/>
          </a:prstGeom>
          <a:noFill/>
          <a:ln/>
        </p:spPr>
        <p:txBody>
          <a:bodyPr wrap="square" lIns="0" tIns="0" rIns="0" bIns="0" rtlCol="0" anchor="t"/>
          <a:lstStyle/>
          <a:p>
            <a:pPr indent="0" marL="0">
              <a:buNone/>
            </a:pPr>
            <a:r>
              <a:rPr lang="en-US" sz="1000" dirty="0">
                <a:solidFill>
                  <a:srgbClr val="9FB0C8"/>
                </a:solidFill>
              </a:rPr>
              <a:t>Sources: Presenter's analysis; M&amp;S RNS 13 May 2025</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3"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4"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5"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6" name="Progress 5"/>
          <p:cNvSpPr/>
          <p:nvPr/>
        </p:nvSpPr>
        <p:spPr>
          <a:xfrm>
            <a:off x="4251960" y="6729984"/>
            <a:ext cx="880110" cy="45720"/>
          </a:xfrm>
          <a:prstGeom prst="rect">
            <a:avLst/>
          </a:prstGeom>
          <a:solidFill>
            <a:srgbClr val="1C4566"/>
          </a:solidFill>
          <a:ln w="12700">
            <a:solidFill>
              <a:srgbClr val="1C4566"/>
            </a:solidFill>
            <a:prstDash val="solid"/>
          </a:ln>
        </p:spPr>
      </p:sp>
      <p:sp>
        <p:nvSpPr>
          <p:cNvPr id="7" name="Progress 6"/>
          <p:cNvSpPr/>
          <p:nvPr/>
        </p:nvSpPr>
        <p:spPr>
          <a:xfrm>
            <a:off x="5177790" y="6729984"/>
            <a:ext cx="880110" cy="45720"/>
          </a:xfrm>
          <a:prstGeom prst="rect">
            <a:avLst/>
          </a:prstGeom>
          <a:solidFill>
            <a:srgbClr val="1C4566"/>
          </a:solidFill>
          <a:ln w="12700">
            <a:solidFill>
              <a:srgbClr val="1C4566"/>
            </a:solidFill>
            <a:prstDash val="solid"/>
          </a:ln>
        </p:spPr>
      </p:sp>
      <p:sp>
        <p:nvSpPr>
          <p:cNvPr id="8" name="Progress 7"/>
          <p:cNvSpPr/>
          <p:nvPr/>
        </p:nvSpPr>
        <p:spPr>
          <a:xfrm>
            <a:off x="6103620" y="6729984"/>
            <a:ext cx="880110" cy="45720"/>
          </a:xfrm>
          <a:prstGeom prst="rect">
            <a:avLst/>
          </a:prstGeom>
          <a:solidFill>
            <a:srgbClr val="1C4566"/>
          </a:solidFill>
          <a:ln w="12700">
            <a:solidFill>
              <a:srgbClr val="1C4566"/>
            </a:solidFill>
            <a:prstDash val="solid"/>
          </a:ln>
        </p:spPr>
      </p:sp>
      <p:sp>
        <p:nvSpPr>
          <p:cNvPr id="9" name="Progress 8"/>
          <p:cNvSpPr/>
          <p:nvPr/>
        </p:nvSpPr>
        <p:spPr>
          <a:xfrm>
            <a:off x="7029450" y="6729984"/>
            <a:ext cx="880110" cy="45720"/>
          </a:xfrm>
          <a:prstGeom prst="rect">
            <a:avLst/>
          </a:prstGeom>
          <a:solidFill>
            <a:srgbClr val="1C4566"/>
          </a:solidFill>
          <a:ln w="12700">
            <a:solidFill>
              <a:srgbClr val="1C4566"/>
            </a:solidFill>
            <a:prstDash val="solid"/>
          </a:ln>
        </p:spPr>
      </p:sp>
      <p:sp>
        <p:nvSpPr>
          <p:cNvPr id="10" name="Progress 9"/>
          <p:cNvSpPr/>
          <p:nvPr/>
        </p:nvSpPr>
        <p:spPr>
          <a:xfrm>
            <a:off x="7955280" y="6729984"/>
            <a:ext cx="880110" cy="45720"/>
          </a:xfrm>
          <a:prstGeom prst="rect">
            <a:avLst/>
          </a:prstGeom>
          <a:solidFill>
            <a:srgbClr val="1C4566"/>
          </a:solidFill>
          <a:ln w="12700">
            <a:solidFill>
              <a:srgbClr val="1C4566"/>
            </a:solidFill>
            <a:prstDash val="solid"/>
          </a:ln>
        </p:spPr>
      </p:sp>
      <p:sp>
        <p:nvSpPr>
          <p:cNvPr id="11" name="Progress 10"/>
          <p:cNvSpPr/>
          <p:nvPr/>
        </p:nvSpPr>
        <p:spPr>
          <a:xfrm>
            <a:off x="8881110" y="6729984"/>
            <a:ext cx="880110" cy="45720"/>
          </a:xfrm>
          <a:prstGeom prst="rect">
            <a:avLst/>
          </a:prstGeom>
          <a:solidFill>
            <a:srgbClr val="1C4566"/>
          </a:solidFill>
          <a:ln w="12700">
            <a:solidFill>
              <a:srgbClr val="1C4566"/>
            </a:solidFill>
            <a:prstDash val="solid"/>
          </a:ln>
        </p:spPr>
      </p:sp>
      <p:sp>
        <p:nvSpPr>
          <p:cNvPr id="12" name="Progress 11"/>
          <p:cNvSpPr/>
          <p:nvPr/>
        </p:nvSpPr>
        <p:spPr>
          <a:xfrm>
            <a:off x="9806940" y="6729984"/>
            <a:ext cx="880110" cy="45720"/>
          </a:xfrm>
          <a:prstGeom prst="rect">
            <a:avLst/>
          </a:prstGeom>
          <a:solidFill>
            <a:srgbClr val="22D3EE"/>
          </a:solidFill>
          <a:ln w="12700">
            <a:solidFill>
              <a:srgbClr val="22D3EE"/>
            </a:solidFill>
            <a:prstDash val="solid"/>
          </a:ln>
        </p:spPr>
      </p:sp>
      <p:sp>
        <p:nvSpPr>
          <p:cNvPr id="13" name="Progress 12"/>
          <p:cNvSpPr/>
          <p:nvPr/>
        </p:nvSpPr>
        <p:spPr>
          <a:xfrm>
            <a:off x="10732770" y="6729984"/>
            <a:ext cx="880110" cy="45720"/>
          </a:xfrm>
          <a:prstGeom prst="rect">
            <a:avLst/>
          </a:prstGeom>
          <a:solidFill>
            <a:srgbClr val="0B1B30"/>
          </a:solidFill>
          <a:ln w="12700">
            <a:solidFill>
              <a:srgbClr val="0B1B30"/>
            </a:solidFill>
            <a:prstDash val="solid"/>
          </a:ln>
        </p:spPr>
      </p:sp>
      <p:sp>
        <p:nvSpPr>
          <p:cNvPr id="14" name="Chip 11 / 12  |  CONCLUSION"/>
          <p:cNvSpPr/>
          <p:nvPr/>
        </p:nvSpPr>
        <p:spPr>
          <a:xfrm>
            <a:off x="8229600" y="6336792"/>
            <a:ext cx="2377440" cy="274320"/>
          </a:xfrm>
          <a:prstGeom prst="roundRect">
            <a:avLst>
              <a:gd name="adj" fmla="val 26667"/>
            </a:avLst>
          </a:prstGeom>
          <a:solidFill>
            <a:srgbClr val="22D3EE"/>
          </a:solidFill>
          <a:ln w="12700">
            <a:solidFill>
              <a:srgbClr val="22D3EE"/>
            </a:solidFill>
            <a:prstDash val="solid"/>
          </a:ln>
        </p:spPr>
      </p:sp>
      <p:sp>
        <p:nvSpPr>
          <p:cNvPr id="15" name="Text 13"/>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11 / 12  |  CONCLUSION</a:t>
            </a:r>
            <a:endParaRPr lang="en-US" sz="1100" dirty="0"/>
          </a:p>
        </p:txBody>
      </p:sp>
      <p:sp>
        <p:nvSpPr>
          <p:cNvPr id="16" name="Text 14"/>
          <p:cNvSpPr txBox="1"/>
          <p:nvPr/>
        </p:nvSpPr>
        <p:spPr>
          <a:xfrm>
            <a:off x="548640" y="6355080"/>
            <a:ext cx="7315200" cy="274320"/>
          </a:xfrm>
          <a:prstGeom prst="rect">
            <a:avLst/>
          </a:prstGeom>
          <a:noFill/>
          <a:ln/>
        </p:spPr>
        <p:txBody>
          <a:bodyPr wrap="square" lIns="0" tIns="0" rIns="0" bIns="0" rtlCol="0" anchor="t"/>
          <a:lstStyle/>
          <a:p>
            <a:pPr indent="0" marL="0">
              <a:buNone/>
            </a:pPr>
            <a:r>
              <a:rPr lang="en-US" sz="1100" dirty="0">
                <a:solidFill>
                  <a:srgbClr val="9FB0C8"/>
                </a:solidFill>
              </a:rPr>
              <a:t>CS50 Cybersecurity  |  Final Project  |  zunera_7</a:t>
            </a:r>
            <a:endParaRPr lang="en-US" sz="1100" dirty="0"/>
          </a:p>
        </p:txBody>
      </p:sp>
      <p:sp>
        <p:nvSpPr>
          <p:cNvPr id="17" name="Logo"/>
          <p:cNvSpPr/>
          <p:nvPr/>
        </p:nvSpPr>
        <p:spPr>
          <a:xfrm>
            <a:off x="548640" y="640080"/>
            <a:ext cx="731520" cy="731520"/>
          </a:xfrm>
          <a:prstGeom prst="ellipse">
            <a:avLst/>
          </a:prstGeom>
          <a:solidFill>
            <a:srgbClr val="22D3EE"/>
          </a:solidFill>
          <a:ln w="12700">
            <a:solidFill>
              <a:srgbClr val="22D3EE"/>
            </a:solidFill>
            <a:prstDash val="solid"/>
          </a:ln>
        </p:spPr>
      </p:sp>
      <p:pic>
        <p:nvPicPr>
          <p:cNvPr id="18" name="Image 0" descr="Logo">    </p:cNvPr>
          <p:cNvPicPr>
            <a:picLocks noChangeAspect="1"/>
          </p:cNvPicPr>
          <p:nvPr/>
        </p:nvPicPr>
        <p:blipFill>
          <a:blip r:embed="rId1"/>
          <a:stretch>
            <a:fillRect/>
          </a:stretch>
        </p:blipFill>
        <p:spPr>
          <a:xfrm>
            <a:off x="753466" y="844906"/>
            <a:ext cx="321869" cy="321869"/>
          </a:xfrm>
          <a:prstGeom prst="rect">
            <a:avLst/>
          </a:prstGeom>
        </p:spPr>
      </p:pic>
      <p:sp>
        <p:nvSpPr>
          <p:cNvPr id="19" name="Text 16"/>
          <p:cNvSpPr txBox="1"/>
          <p:nvPr/>
        </p:nvSpPr>
        <p:spPr>
          <a:xfrm>
            <a:off x="1463040" y="777240"/>
            <a:ext cx="5486400" cy="457200"/>
          </a:xfrm>
          <a:prstGeom prst="rect">
            <a:avLst/>
          </a:prstGeom>
          <a:noFill/>
          <a:ln/>
        </p:spPr>
        <p:txBody>
          <a:bodyPr wrap="square" lIns="0" tIns="0" rIns="0" bIns="0" rtlCol="0" anchor="ctr"/>
          <a:lstStyle/>
          <a:p>
            <a:pPr indent="0" marL="0">
              <a:buNone/>
            </a:pPr>
            <a:r>
              <a:rPr lang="en-US" sz="1600" b="1" dirty="0">
                <a:solidFill>
                  <a:srgbClr val="22D3EE"/>
                </a:solidFill>
              </a:rPr>
              <a:t>CONCLUSION</a:t>
            </a:r>
            <a:endParaRPr lang="en-US" sz="1600" dirty="0"/>
          </a:p>
        </p:txBody>
      </p:sp>
      <p:sp>
        <p:nvSpPr>
          <p:cNvPr id="20" name="Text 17"/>
          <p:cNvSpPr txBox="1"/>
          <p:nvPr/>
        </p:nvSpPr>
        <p:spPr>
          <a:xfrm>
            <a:off x="548640" y="1645920"/>
            <a:ext cx="10515600" cy="2011680"/>
          </a:xfrm>
          <a:prstGeom prst="rect">
            <a:avLst/>
          </a:prstGeom>
          <a:noFill/>
          <a:ln/>
        </p:spPr>
        <p:txBody>
          <a:bodyPr wrap="square" lIns="0" tIns="0" rIns="0" bIns="0" rtlCol="0" anchor="t"/>
          <a:lstStyle/>
          <a:p>
            <a:pPr indent="0" marL="0">
              <a:buNone/>
            </a:pPr>
            <a:r>
              <a:rPr lang="en-US" sz="4400" b="1" dirty="0">
                <a:solidFill>
                  <a:srgbClr val="FFFFFF"/>
                </a:solidFill>
              </a:rPr>
              <a:t>Security fails where people, process and third parties meet.</a:t>
            </a:r>
            <a:endParaRPr lang="en-US" sz="4400" dirty="0"/>
          </a:p>
        </p:txBody>
      </p:sp>
      <p:sp>
        <p:nvSpPr>
          <p:cNvPr id="21" name="Pillar 1"/>
          <p:cNvSpPr/>
          <p:nvPr/>
        </p:nvSpPr>
        <p:spPr>
          <a:xfrm>
            <a:off x="548640" y="4023360"/>
            <a:ext cx="3520440" cy="1737360"/>
          </a:xfrm>
          <a:prstGeom prst="roundRect">
            <a:avLst>
              <a:gd name="adj" fmla="val 6316"/>
            </a:avLst>
          </a:prstGeom>
          <a:solidFill>
            <a:srgbClr val="081525"/>
          </a:solidFill>
          <a:ln w="12700">
            <a:solidFill>
              <a:srgbClr val="1C4566"/>
            </a:solidFill>
            <a:prstDash val="solid"/>
          </a:ln>
        </p:spPr>
      </p:sp>
      <p:sp>
        <p:nvSpPr>
          <p:cNvPr id="22" name="Text 19"/>
          <p:cNvSpPr txBox="1"/>
          <p:nvPr/>
        </p:nvSpPr>
        <p:spPr>
          <a:xfrm>
            <a:off x="822960" y="4251960"/>
            <a:ext cx="2926080" cy="640080"/>
          </a:xfrm>
          <a:prstGeom prst="rect">
            <a:avLst/>
          </a:prstGeom>
          <a:noFill/>
          <a:ln/>
        </p:spPr>
        <p:txBody>
          <a:bodyPr wrap="square" lIns="0" tIns="0" rIns="0" bIns="0" rtlCol="0" anchor="t"/>
          <a:lstStyle/>
          <a:p>
            <a:pPr indent="0" marL="0">
              <a:buNone/>
            </a:pPr>
            <a:r>
              <a:rPr lang="en-US" sz="3000" b="1" dirty="0">
                <a:solidFill>
                  <a:srgbClr val="22D3EE"/>
                </a:solidFill>
              </a:rPr>
              <a:t>Trust</a:t>
            </a:r>
            <a:endParaRPr lang="en-US" sz="3000" dirty="0"/>
          </a:p>
        </p:txBody>
      </p:sp>
      <p:sp>
        <p:nvSpPr>
          <p:cNvPr id="23" name="Text 20"/>
          <p:cNvSpPr txBox="1"/>
          <p:nvPr/>
        </p:nvSpPr>
        <p:spPr>
          <a:xfrm>
            <a:off x="822960" y="4937760"/>
            <a:ext cx="3017520" cy="640080"/>
          </a:xfrm>
          <a:prstGeom prst="rect">
            <a:avLst/>
          </a:prstGeom>
          <a:noFill/>
          <a:ln/>
        </p:spPr>
        <p:txBody>
          <a:bodyPr wrap="square" lIns="0" tIns="0" rIns="0" bIns="0" rtlCol="0" anchor="t"/>
          <a:lstStyle/>
          <a:p>
            <a:pPr indent="0" marL="0">
              <a:buNone/>
            </a:pPr>
            <a:r>
              <a:rPr lang="en-US" sz="1700" dirty="0">
                <a:solidFill>
                  <a:srgbClr val="9FB0C8"/>
                </a:solidFill>
              </a:rPr>
              <a:t>Exploited through social engineering</a:t>
            </a:r>
            <a:endParaRPr lang="en-US" sz="1700" dirty="0"/>
          </a:p>
        </p:txBody>
      </p:sp>
      <p:sp>
        <p:nvSpPr>
          <p:cNvPr id="24" name="Pillar 2"/>
          <p:cNvSpPr/>
          <p:nvPr/>
        </p:nvSpPr>
        <p:spPr>
          <a:xfrm>
            <a:off x="4343400" y="4023360"/>
            <a:ext cx="3520440" cy="1737360"/>
          </a:xfrm>
          <a:prstGeom prst="roundRect">
            <a:avLst>
              <a:gd name="adj" fmla="val 6316"/>
            </a:avLst>
          </a:prstGeom>
          <a:solidFill>
            <a:srgbClr val="081525"/>
          </a:solidFill>
          <a:ln w="12700">
            <a:solidFill>
              <a:srgbClr val="1C4566"/>
            </a:solidFill>
            <a:prstDash val="solid"/>
          </a:ln>
        </p:spPr>
      </p:sp>
      <p:sp>
        <p:nvSpPr>
          <p:cNvPr id="25" name="Text 22"/>
          <p:cNvSpPr txBox="1"/>
          <p:nvPr/>
        </p:nvSpPr>
        <p:spPr>
          <a:xfrm>
            <a:off x="4617720" y="4251960"/>
            <a:ext cx="2926080" cy="640080"/>
          </a:xfrm>
          <a:prstGeom prst="rect">
            <a:avLst/>
          </a:prstGeom>
          <a:noFill/>
          <a:ln/>
        </p:spPr>
        <p:txBody>
          <a:bodyPr wrap="square" lIns="0" tIns="0" rIns="0" bIns="0" rtlCol="0" anchor="t"/>
          <a:lstStyle/>
          <a:p>
            <a:pPr indent="0" marL="0">
              <a:buNone/>
            </a:pPr>
            <a:r>
              <a:rPr lang="en-US" sz="3000" b="1" dirty="0">
                <a:solidFill>
                  <a:srgbClr val="22D3EE"/>
                </a:solidFill>
              </a:rPr>
              <a:t>Access</a:t>
            </a:r>
            <a:endParaRPr lang="en-US" sz="3000" dirty="0"/>
          </a:p>
        </p:txBody>
      </p:sp>
      <p:sp>
        <p:nvSpPr>
          <p:cNvPr id="26" name="Text 23"/>
          <p:cNvSpPr txBox="1"/>
          <p:nvPr/>
        </p:nvSpPr>
        <p:spPr>
          <a:xfrm>
            <a:off x="4617720" y="4937760"/>
            <a:ext cx="3017520" cy="640080"/>
          </a:xfrm>
          <a:prstGeom prst="rect">
            <a:avLst/>
          </a:prstGeom>
          <a:noFill/>
          <a:ln/>
        </p:spPr>
        <p:txBody>
          <a:bodyPr wrap="square" lIns="0" tIns="0" rIns="0" bIns="0" rtlCol="0" anchor="t"/>
          <a:lstStyle/>
          <a:p>
            <a:pPr indent="0" marL="0">
              <a:buNone/>
            </a:pPr>
            <a:r>
              <a:rPr lang="en-US" sz="1700" dirty="0">
                <a:solidFill>
                  <a:srgbClr val="9FB0C8"/>
                </a:solidFill>
              </a:rPr>
              <a:t>Inherited by the attacker</a:t>
            </a:r>
            <a:endParaRPr lang="en-US" sz="1700" dirty="0"/>
          </a:p>
        </p:txBody>
      </p:sp>
      <p:sp>
        <p:nvSpPr>
          <p:cNvPr id="27" name="Pillar 3"/>
          <p:cNvSpPr/>
          <p:nvPr/>
        </p:nvSpPr>
        <p:spPr>
          <a:xfrm>
            <a:off x="8138160" y="4023360"/>
            <a:ext cx="3520440" cy="1737360"/>
          </a:xfrm>
          <a:prstGeom prst="roundRect">
            <a:avLst>
              <a:gd name="adj" fmla="val 6316"/>
            </a:avLst>
          </a:prstGeom>
          <a:solidFill>
            <a:srgbClr val="081525"/>
          </a:solidFill>
          <a:ln w="12700">
            <a:solidFill>
              <a:srgbClr val="1C4566"/>
            </a:solidFill>
            <a:prstDash val="solid"/>
          </a:ln>
        </p:spPr>
      </p:sp>
      <p:sp>
        <p:nvSpPr>
          <p:cNvPr id="28" name="Text 25"/>
          <p:cNvSpPr txBox="1"/>
          <p:nvPr/>
        </p:nvSpPr>
        <p:spPr>
          <a:xfrm>
            <a:off x="8412480" y="4251960"/>
            <a:ext cx="2926080" cy="640080"/>
          </a:xfrm>
          <a:prstGeom prst="rect">
            <a:avLst/>
          </a:prstGeom>
          <a:noFill/>
          <a:ln/>
        </p:spPr>
        <p:txBody>
          <a:bodyPr wrap="square" lIns="0" tIns="0" rIns="0" bIns="0" rtlCol="0" anchor="t"/>
          <a:lstStyle/>
          <a:p>
            <a:pPr indent="0" marL="0">
              <a:buNone/>
            </a:pPr>
            <a:r>
              <a:rPr lang="en-US" sz="3000" b="1" dirty="0">
                <a:solidFill>
                  <a:srgbClr val="22D3EE"/>
                </a:solidFill>
              </a:rPr>
              <a:t>Recovery</a:t>
            </a:r>
            <a:endParaRPr lang="en-US" sz="3000" dirty="0"/>
          </a:p>
        </p:txBody>
      </p:sp>
      <p:sp>
        <p:nvSpPr>
          <p:cNvPr id="29" name="Text 26"/>
          <p:cNvSpPr txBox="1"/>
          <p:nvPr/>
        </p:nvSpPr>
        <p:spPr>
          <a:xfrm>
            <a:off x="8412480" y="4937760"/>
            <a:ext cx="3017520" cy="640080"/>
          </a:xfrm>
          <a:prstGeom prst="rect">
            <a:avLst/>
          </a:prstGeom>
          <a:noFill/>
          <a:ln/>
        </p:spPr>
        <p:txBody>
          <a:bodyPr wrap="square" lIns="0" tIns="0" rIns="0" bIns="0" rtlCol="0" anchor="t"/>
          <a:lstStyle/>
          <a:p>
            <a:pPr indent="0" marL="0">
              <a:buNone/>
            </a:pPr>
            <a:r>
              <a:rPr lang="en-US" sz="1700" dirty="0">
                <a:solidFill>
                  <a:srgbClr val="9FB0C8"/>
                </a:solidFill>
              </a:rPr>
              <a:t>Took months, not days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rgbClr val="FFFFFF"/>
                </a:solidFill>
              </a:rPr>
              <a:t>References</a:t>
            </a:r>
            <a:endParaRPr lang="en-US" sz="3600" dirty="0"/>
          </a:p>
        </p:txBody>
      </p:sp>
      <p:sp>
        <p:nvSpPr>
          <p:cNvPr id="3" name="Progress 1"/>
          <p:cNvSpPr/>
          <p:nvPr/>
        </p:nvSpPr>
        <p:spPr>
          <a:xfrm>
            <a:off x="548640" y="6729984"/>
            <a:ext cx="880110" cy="45720"/>
          </a:xfrm>
          <a:prstGeom prst="rect">
            <a:avLst/>
          </a:prstGeom>
          <a:solidFill>
            <a:srgbClr val="1C4566"/>
          </a:solidFill>
          <a:ln w="12700">
            <a:solidFill>
              <a:srgbClr val="1C4566"/>
            </a:solidFill>
            <a:prstDash val="solid"/>
          </a:ln>
        </p:spPr>
      </p:sp>
      <p:sp>
        <p:nvSpPr>
          <p:cNvPr id="4" name="Progress 2"/>
          <p:cNvSpPr/>
          <p:nvPr/>
        </p:nvSpPr>
        <p:spPr>
          <a:xfrm>
            <a:off x="1474470" y="6729984"/>
            <a:ext cx="880110" cy="45720"/>
          </a:xfrm>
          <a:prstGeom prst="rect">
            <a:avLst/>
          </a:prstGeom>
          <a:solidFill>
            <a:srgbClr val="1C4566"/>
          </a:solidFill>
          <a:ln w="12700">
            <a:solidFill>
              <a:srgbClr val="1C4566"/>
            </a:solidFill>
            <a:prstDash val="solid"/>
          </a:ln>
        </p:spPr>
      </p:sp>
      <p:sp>
        <p:nvSpPr>
          <p:cNvPr id="5" name="Progress 3"/>
          <p:cNvSpPr/>
          <p:nvPr/>
        </p:nvSpPr>
        <p:spPr>
          <a:xfrm>
            <a:off x="2400300" y="6729984"/>
            <a:ext cx="880110" cy="45720"/>
          </a:xfrm>
          <a:prstGeom prst="rect">
            <a:avLst/>
          </a:prstGeom>
          <a:solidFill>
            <a:srgbClr val="1C4566"/>
          </a:solidFill>
          <a:ln w="12700">
            <a:solidFill>
              <a:srgbClr val="1C4566"/>
            </a:solidFill>
            <a:prstDash val="solid"/>
          </a:ln>
        </p:spPr>
      </p:sp>
      <p:sp>
        <p:nvSpPr>
          <p:cNvPr id="6" name="Progress 4"/>
          <p:cNvSpPr/>
          <p:nvPr/>
        </p:nvSpPr>
        <p:spPr>
          <a:xfrm>
            <a:off x="3326130" y="6729984"/>
            <a:ext cx="880110" cy="45720"/>
          </a:xfrm>
          <a:prstGeom prst="rect">
            <a:avLst/>
          </a:prstGeom>
          <a:solidFill>
            <a:srgbClr val="1C4566"/>
          </a:solidFill>
          <a:ln w="12700">
            <a:solidFill>
              <a:srgbClr val="1C4566"/>
            </a:solidFill>
            <a:prstDash val="solid"/>
          </a:ln>
        </p:spPr>
      </p:sp>
      <p:sp>
        <p:nvSpPr>
          <p:cNvPr id="7" name="Progress 5"/>
          <p:cNvSpPr/>
          <p:nvPr/>
        </p:nvSpPr>
        <p:spPr>
          <a:xfrm>
            <a:off x="4251960" y="6729984"/>
            <a:ext cx="880110" cy="45720"/>
          </a:xfrm>
          <a:prstGeom prst="rect">
            <a:avLst/>
          </a:prstGeom>
          <a:solidFill>
            <a:srgbClr val="1C4566"/>
          </a:solidFill>
          <a:ln w="12700">
            <a:solidFill>
              <a:srgbClr val="1C4566"/>
            </a:solidFill>
            <a:prstDash val="solid"/>
          </a:ln>
        </p:spPr>
      </p:sp>
      <p:sp>
        <p:nvSpPr>
          <p:cNvPr id="8" name="Progress 6"/>
          <p:cNvSpPr/>
          <p:nvPr/>
        </p:nvSpPr>
        <p:spPr>
          <a:xfrm>
            <a:off x="5177790" y="6729984"/>
            <a:ext cx="880110" cy="45720"/>
          </a:xfrm>
          <a:prstGeom prst="rect">
            <a:avLst/>
          </a:prstGeom>
          <a:solidFill>
            <a:srgbClr val="1C4566"/>
          </a:solidFill>
          <a:ln w="12700">
            <a:solidFill>
              <a:srgbClr val="1C4566"/>
            </a:solidFill>
            <a:prstDash val="solid"/>
          </a:ln>
        </p:spPr>
      </p:sp>
      <p:sp>
        <p:nvSpPr>
          <p:cNvPr id="9" name="Progress 7"/>
          <p:cNvSpPr/>
          <p:nvPr/>
        </p:nvSpPr>
        <p:spPr>
          <a:xfrm>
            <a:off x="6103620" y="6729984"/>
            <a:ext cx="880110" cy="45720"/>
          </a:xfrm>
          <a:prstGeom prst="rect">
            <a:avLst/>
          </a:prstGeom>
          <a:solidFill>
            <a:srgbClr val="1C4566"/>
          </a:solidFill>
          <a:ln w="12700">
            <a:solidFill>
              <a:srgbClr val="1C4566"/>
            </a:solidFill>
            <a:prstDash val="solid"/>
          </a:ln>
        </p:spPr>
      </p:sp>
      <p:sp>
        <p:nvSpPr>
          <p:cNvPr id="10" name="Progress 8"/>
          <p:cNvSpPr/>
          <p:nvPr/>
        </p:nvSpPr>
        <p:spPr>
          <a:xfrm>
            <a:off x="7029450" y="6729984"/>
            <a:ext cx="880110" cy="45720"/>
          </a:xfrm>
          <a:prstGeom prst="rect">
            <a:avLst/>
          </a:prstGeom>
          <a:solidFill>
            <a:srgbClr val="1C4566"/>
          </a:solidFill>
          <a:ln w="12700">
            <a:solidFill>
              <a:srgbClr val="1C4566"/>
            </a:solidFill>
            <a:prstDash val="solid"/>
          </a:ln>
        </p:spPr>
      </p:sp>
      <p:sp>
        <p:nvSpPr>
          <p:cNvPr id="11" name="Progress 9"/>
          <p:cNvSpPr/>
          <p:nvPr/>
        </p:nvSpPr>
        <p:spPr>
          <a:xfrm>
            <a:off x="7955280" y="6729984"/>
            <a:ext cx="880110" cy="45720"/>
          </a:xfrm>
          <a:prstGeom prst="rect">
            <a:avLst/>
          </a:prstGeom>
          <a:solidFill>
            <a:srgbClr val="1C4566"/>
          </a:solidFill>
          <a:ln w="12700">
            <a:solidFill>
              <a:srgbClr val="1C4566"/>
            </a:solidFill>
            <a:prstDash val="solid"/>
          </a:ln>
        </p:spPr>
      </p:sp>
      <p:sp>
        <p:nvSpPr>
          <p:cNvPr id="12" name="Progress 10"/>
          <p:cNvSpPr/>
          <p:nvPr/>
        </p:nvSpPr>
        <p:spPr>
          <a:xfrm>
            <a:off x="8881110" y="6729984"/>
            <a:ext cx="880110" cy="45720"/>
          </a:xfrm>
          <a:prstGeom prst="rect">
            <a:avLst/>
          </a:prstGeom>
          <a:solidFill>
            <a:srgbClr val="1C4566"/>
          </a:solidFill>
          <a:ln w="12700">
            <a:solidFill>
              <a:srgbClr val="1C4566"/>
            </a:solidFill>
            <a:prstDash val="solid"/>
          </a:ln>
        </p:spPr>
      </p:sp>
      <p:sp>
        <p:nvSpPr>
          <p:cNvPr id="13" name="Progress 11"/>
          <p:cNvSpPr/>
          <p:nvPr/>
        </p:nvSpPr>
        <p:spPr>
          <a:xfrm>
            <a:off x="9806940" y="6729984"/>
            <a:ext cx="880110" cy="45720"/>
          </a:xfrm>
          <a:prstGeom prst="rect">
            <a:avLst/>
          </a:prstGeom>
          <a:solidFill>
            <a:srgbClr val="1C4566"/>
          </a:solidFill>
          <a:ln w="12700">
            <a:solidFill>
              <a:srgbClr val="1C4566"/>
            </a:solidFill>
            <a:prstDash val="solid"/>
          </a:ln>
        </p:spPr>
      </p:sp>
      <p:sp>
        <p:nvSpPr>
          <p:cNvPr id="14" name="Progress 12"/>
          <p:cNvSpPr/>
          <p:nvPr/>
        </p:nvSpPr>
        <p:spPr>
          <a:xfrm>
            <a:off x="10732770" y="6729984"/>
            <a:ext cx="880110" cy="45720"/>
          </a:xfrm>
          <a:prstGeom prst="rect">
            <a:avLst/>
          </a:prstGeom>
          <a:solidFill>
            <a:srgbClr val="22D3EE"/>
          </a:solidFill>
          <a:ln w="12700">
            <a:solidFill>
              <a:srgbClr val="22D3EE"/>
            </a:solidFill>
            <a:prstDash val="solid"/>
          </a:ln>
        </p:spPr>
      </p:sp>
      <p:sp>
        <p:nvSpPr>
          <p:cNvPr id="15" name="Chip 12 / 12  |  SOURCES"/>
          <p:cNvSpPr/>
          <p:nvPr/>
        </p:nvSpPr>
        <p:spPr>
          <a:xfrm>
            <a:off x="8229600" y="6336792"/>
            <a:ext cx="2377440" cy="274320"/>
          </a:xfrm>
          <a:prstGeom prst="roundRect">
            <a:avLst>
              <a:gd name="adj" fmla="val 26667"/>
            </a:avLst>
          </a:prstGeom>
          <a:solidFill>
            <a:srgbClr val="9FB0C8"/>
          </a:solidFill>
          <a:ln w="12700">
            <a:solidFill>
              <a:srgbClr val="9FB0C8"/>
            </a:solidFill>
            <a:prstDash val="solid"/>
          </a:ln>
        </p:spPr>
      </p:sp>
      <p:sp>
        <p:nvSpPr>
          <p:cNvPr id="16" name="Text 14"/>
          <p:cNvSpPr txBox="1"/>
          <p:nvPr/>
        </p:nvSpPr>
        <p:spPr>
          <a:xfrm>
            <a:off x="8229600" y="6336792"/>
            <a:ext cx="2377440" cy="274320"/>
          </a:xfrm>
          <a:prstGeom prst="rect">
            <a:avLst/>
          </a:prstGeom>
          <a:noFill/>
          <a:ln/>
        </p:spPr>
        <p:txBody>
          <a:bodyPr wrap="square" lIns="0" tIns="0" rIns="0" bIns="0" rtlCol="0" anchor="ctr"/>
          <a:lstStyle/>
          <a:p>
            <a:pPr algn="ctr" indent="0" marL="0">
              <a:buNone/>
            </a:pPr>
            <a:r>
              <a:rPr lang="en-US" sz="1100" b="1" dirty="0">
                <a:solidFill>
                  <a:srgbClr val="02050D"/>
                </a:solidFill>
              </a:rPr>
              <a:t>12 / 12  |  SOURCES</a:t>
            </a:r>
            <a:endParaRPr lang="en-US" sz="1100" dirty="0"/>
          </a:p>
        </p:txBody>
      </p:sp>
      <p:sp>
        <p:nvSpPr>
          <p:cNvPr id="17" name="Refs card"/>
          <p:cNvSpPr/>
          <p:nvPr/>
        </p:nvSpPr>
        <p:spPr>
          <a:xfrm>
            <a:off x="548640" y="1371600"/>
            <a:ext cx="11109960" cy="3749040"/>
          </a:xfrm>
          <a:prstGeom prst="roundRect">
            <a:avLst>
              <a:gd name="adj" fmla="val 2927"/>
            </a:avLst>
          </a:prstGeom>
          <a:solidFill>
            <a:srgbClr val="081525"/>
          </a:solidFill>
          <a:ln w="12700">
            <a:solidFill>
              <a:srgbClr val="1C4566"/>
            </a:solidFill>
            <a:prstDash val="solid"/>
          </a:ln>
        </p:spPr>
      </p:sp>
      <p:sp>
        <p:nvSpPr>
          <p:cNvPr id="18" name="Text 16"/>
          <p:cNvSpPr txBox="1"/>
          <p:nvPr/>
        </p:nvSpPr>
        <p:spPr>
          <a:xfrm>
            <a:off x="822960" y="1600200"/>
            <a:ext cx="10515600" cy="4206240"/>
          </a:xfrm>
          <a:prstGeom prst="rect">
            <a:avLst/>
          </a:prstGeom>
          <a:noFill/>
          <a:ln/>
        </p:spPr>
        <p:txBody>
          <a:bodyPr wrap="square" lIns="0" tIns="0" rIns="0" bIns="0" rtlCol="0" anchor="t"/>
          <a:lstStyle/>
          <a:p>
            <a:pPr indent="0" marL="0">
              <a:buNone/>
            </a:pPr>
            <a:r>
              <a:rPr lang="en-US" sz="1300" b="1" dirty="0">
                <a:solidFill>
                  <a:srgbClr val="FFFFFF"/>
                </a:solidFill>
              </a:rPr>
              <a:t>1. Marks &amp; Spencer, "Cyber Incident - Further Update", 23 Apr 2025</a:t>
            </a:r>
            <a:endParaRPr lang="en-US" sz="1300" dirty="0"/>
          </a:p>
          <a:p>
            <a:pPr indent="0" marL="0">
              <a:spcAft>
                <a:spcPts val="900"/>
              </a:spcAft>
              <a:buNone/>
            </a:pPr>
            <a:r>
              <a:rPr lang="en-US" sz="1100" dirty="0">
                <a:solidFill>
                  <a:srgbClr val="22D3EE"/>
                </a:solidFill>
              </a:rPr>
              <a:t>https://corporate.marksandspencer.com/newsroom/press-releases/cyber-incident-further-update</a:t>
            </a:r>
            <a:endParaRPr lang="en-US" sz="1300" dirty="0"/>
          </a:p>
          <a:p>
            <a:pPr indent="0" marL="0">
              <a:buNone/>
            </a:pPr>
            <a:r>
              <a:rPr lang="en-US" sz="1300" b="1" dirty="0">
                <a:solidFill>
                  <a:srgbClr val="FFFFFF"/>
                </a:solidFill>
              </a:rPr>
              <a:t>2. Marks &amp; Spencer (RNS), "Cyber Incident - Further Update", 13 May 2025</a:t>
            </a:r>
            <a:endParaRPr lang="en-US" sz="1300" dirty="0"/>
          </a:p>
          <a:p>
            <a:pPr indent="0" marL="0">
              <a:spcAft>
                <a:spcPts val="900"/>
              </a:spcAft>
              <a:buNone/>
            </a:pPr>
            <a:r>
              <a:rPr lang="en-US" sz="1100" dirty="0">
                <a:solidFill>
                  <a:srgbClr val="22D3EE"/>
                </a:solidFill>
              </a:rPr>
              <a:t>https://www.investegate.co.uk/announcement/rns/marks-spencer-group--mks/cyber-incident-further-update-/8874910</a:t>
            </a:r>
            <a:endParaRPr lang="en-US" sz="1300" dirty="0"/>
          </a:p>
          <a:p>
            <a:pPr indent="0" marL="0">
              <a:buNone/>
            </a:pPr>
            <a:r>
              <a:rPr lang="en-US" sz="1300" b="1" dirty="0">
                <a:solidFill>
                  <a:srgbClr val="FFFFFF"/>
                </a:solidFill>
              </a:rPr>
              <a:t>3. UK Information Commissioner's Office, "Statement on cyber incidents impacting retailers", 2 May 2025</a:t>
            </a:r>
            <a:endParaRPr lang="en-US" sz="1300" dirty="0"/>
          </a:p>
          <a:p>
            <a:pPr indent="0" marL="0">
              <a:spcAft>
                <a:spcPts val="900"/>
              </a:spcAft>
              <a:buNone/>
            </a:pPr>
            <a:r>
              <a:rPr lang="en-US" sz="1100" dirty="0">
                <a:solidFill>
                  <a:srgbClr val="22D3EE"/>
                </a:solidFill>
              </a:rPr>
              <a:t>https://ico.org.uk/about-the-ico/media-centre/news-and-blogs/2025/05/statement-on-cyber-incidents-impacting-retailers/</a:t>
            </a:r>
            <a:endParaRPr lang="en-US" sz="1300" dirty="0"/>
          </a:p>
          <a:p>
            <a:pPr indent="0" marL="0">
              <a:buNone/>
            </a:pPr>
            <a:r>
              <a:rPr lang="en-US" sz="1300" b="1" dirty="0">
                <a:solidFill>
                  <a:srgbClr val="FFFFFF"/>
                </a:solidFill>
              </a:rPr>
              <a:t>4. Reuters, "M&amp;S says cyber hackers broke in through third-party contractor", 21 May 2025</a:t>
            </a:r>
            <a:endParaRPr lang="en-US" sz="1300" dirty="0"/>
          </a:p>
          <a:p>
            <a:pPr indent="0" marL="0">
              <a:spcAft>
                <a:spcPts val="900"/>
              </a:spcAft>
              <a:buNone/>
            </a:pPr>
            <a:r>
              <a:rPr lang="en-US" sz="1100" dirty="0">
                <a:solidFill>
                  <a:srgbClr val="22D3EE"/>
                </a:solidFill>
              </a:rPr>
              <a:t>https://www.investing.com/news/stock-market-news/ms-says-hackers-broke-in-through-thirdparty-contractor-4056748</a:t>
            </a:r>
            <a:endParaRPr lang="en-US" sz="1300" dirty="0"/>
          </a:p>
          <a:p>
            <a:pPr indent="0" marL="0">
              <a:buNone/>
            </a:pPr>
            <a:r>
              <a:rPr lang="en-US" sz="1300" b="1" dirty="0">
                <a:solidFill>
                  <a:srgbClr val="FFFFFF"/>
                </a:solidFill>
              </a:rPr>
              <a:t>5. ManageEngine, "Marks &amp; Spencer ransomware attack: Cybersecurity lessons for the retail sector" (summarises BleepingComputer, 5 May 2025)</a:t>
            </a:r>
            <a:endParaRPr lang="en-US" sz="1300" dirty="0"/>
          </a:p>
          <a:p>
            <a:pPr indent="0" marL="0">
              <a:spcAft>
                <a:spcPts val="900"/>
              </a:spcAft>
              <a:buNone/>
            </a:pPr>
            <a:r>
              <a:rPr lang="en-US" sz="1100" dirty="0">
                <a:solidFill>
                  <a:srgbClr val="22D3EE"/>
                </a:solidFill>
              </a:rPr>
              <a:t>https://www.manageengine.com/log-management/cyber-security/marks-and-spencer-ransomware-retail-sector-cybersecurity.html</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0C8"/>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M&amp;S Cyberattack: CS50 Cybersecurity Final Project</dc:title>
  <dc:subject>PptxGenJS Presentation</dc:subject>
  <dc:creator>zunera_7</dc:creator>
  <cp:lastModifiedBy>zunera_7</cp:lastModifiedBy>
  <cp:revision>1</cp:revision>
  <dcterms:created xsi:type="dcterms:W3CDTF">2026-10-25T10:08:55Z</dcterms:created>
  <dcterms:modified xsi:type="dcterms:W3CDTF">2026-10-25T10:08:55Z</dcterms:modified>
</cp:coreProperties>
</file>